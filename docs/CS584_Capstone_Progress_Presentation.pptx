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02B7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029200"/>
            <a:ext cx="12188952" cy="1828800"/>
          </a:xfrm>
          <a:prstGeom prst="rect">
            <a:avLst/>
          </a:prstGeom>
          <a:solidFill>
            <a:srgbClr val="001A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365760" y="4023360"/>
            <a:ext cx="1371600" cy="109728"/>
          </a:xfrm>
          <a:prstGeom prst="rect">
            <a:avLst/>
          </a:prstGeom>
          <a:solidFill>
            <a:srgbClr val="F2A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914400"/>
            <a:ext cx="10972800" cy="2011680"/>
          </a:xfrm>
          <a:prstGeom prst="rect">
            <a:avLst/>
          </a:prstGeom>
          <a:noFill/>
        </p:spPr>
        <p:txBody>
          <a:bodyPr wrap="square">
            <a:spAutoFit/>
          </a:bodyPr>
          <a:lstStyle/>
          <a:p>
            <a:pPr algn="l"/>
            <a:r>
              <a:rPr sz="4000" b="1" i="0">
                <a:solidFill>
                  <a:srgbClr val="FFFFFF"/>
                </a:solidFill>
              </a:rPr>
              <a:t>Schema-Evolving Knowledge Graphs
for Insurance</a:t>
            </a:r>
          </a:p>
        </p:txBody>
      </p:sp>
      <p:sp>
        <p:nvSpPr>
          <p:cNvPr id="6" name="TextBox 5"/>
          <p:cNvSpPr txBox="1"/>
          <p:nvPr/>
        </p:nvSpPr>
        <p:spPr>
          <a:xfrm>
            <a:off x="457200" y="2834640"/>
            <a:ext cx="10972800" cy="731520"/>
          </a:xfrm>
          <a:prstGeom prst="rect">
            <a:avLst/>
          </a:prstGeom>
          <a:noFill/>
        </p:spPr>
        <p:txBody>
          <a:bodyPr wrap="square">
            <a:spAutoFit/>
          </a:bodyPr>
          <a:lstStyle/>
          <a:p>
            <a:pPr algn="l"/>
            <a:r>
              <a:rPr sz="2200" b="0" i="1">
                <a:solidFill>
                  <a:srgbClr val="AAC4FF"/>
                </a:solidFill>
              </a:rPr>
              <a:t>Automated Ontology Induction with Cross-Domain Transfer Learning</a:t>
            </a:r>
          </a:p>
        </p:txBody>
      </p:sp>
      <p:sp>
        <p:nvSpPr>
          <p:cNvPr id="7" name="TextBox 6"/>
          <p:cNvSpPr txBox="1"/>
          <p:nvPr/>
        </p:nvSpPr>
        <p:spPr>
          <a:xfrm>
            <a:off x="457200" y="4206240"/>
            <a:ext cx="7315200" cy="457200"/>
          </a:xfrm>
          <a:prstGeom prst="rect">
            <a:avLst/>
          </a:prstGeom>
          <a:noFill/>
        </p:spPr>
        <p:txBody>
          <a:bodyPr wrap="square">
            <a:spAutoFit/>
          </a:bodyPr>
          <a:lstStyle/>
          <a:p>
            <a:pPr algn="l"/>
            <a:r>
              <a:rPr sz="1800" b="0" i="0">
                <a:solidFill>
                  <a:srgbClr val="FFFFFF"/>
                </a:solidFill>
              </a:rPr>
              <a:t>Xiaofei Wang  ·  Zechary Chou</a:t>
            </a:r>
          </a:p>
        </p:txBody>
      </p:sp>
      <p:sp>
        <p:nvSpPr>
          <p:cNvPr id="8" name="TextBox 7"/>
          <p:cNvSpPr txBox="1"/>
          <p:nvPr/>
        </p:nvSpPr>
        <p:spPr>
          <a:xfrm>
            <a:off x="457200" y="4663440"/>
            <a:ext cx="9144000" cy="457200"/>
          </a:xfrm>
          <a:prstGeom prst="rect">
            <a:avLst/>
          </a:prstGeom>
          <a:noFill/>
        </p:spPr>
        <p:txBody>
          <a:bodyPr wrap="square">
            <a:spAutoFit/>
          </a:bodyPr>
          <a:lstStyle/>
          <a:p>
            <a:pPr algn="l"/>
            <a:r>
              <a:rPr sz="1500" b="0" i="0">
                <a:solidFill>
                  <a:srgbClr val="AAC4FF"/>
                </a:solidFill>
              </a:rPr>
              <a:t>CS 584 AI Capstone  ·  Emory University  ·  Spring 2026</a:t>
            </a:r>
          </a:p>
        </p:txBody>
      </p:sp>
      <p:sp>
        <p:nvSpPr>
          <p:cNvPr id="9" name="TextBox 8"/>
          <p:cNvSpPr txBox="1"/>
          <p:nvPr/>
        </p:nvSpPr>
        <p:spPr>
          <a:xfrm>
            <a:off x="457200" y="5760720"/>
            <a:ext cx="7315200" cy="457200"/>
          </a:xfrm>
          <a:prstGeom prst="rect">
            <a:avLst/>
          </a:prstGeom>
          <a:noFill/>
        </p:spPr>
        <p:txBody>
          <a:bodyPr wrap="square">
            <a:spAutoFit/>
          </a:bodyPr>
          <a:lstStyle/>
          <a:p>
            <a:pPr algn="l"/>
            <a:r>
              <a:rPr sz="1400" b="1" i="0">
                <a:solidFill>
                  <a:srgbClr val="F2A900"/>
                </a:solidFill>
              </a:rPr>
              <a:t>Progress Report — Weeks 1–3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97280"/>
          </a:xfrm>
          <a:prstGeom prst="rect">
            <a:avLst/>
          </a:prstGeom>
          <a:solidFill>
            <a:srgbClr val="002B7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137160"/>
            <a:ext cx="11430000" cy="914400"/>
          </a:xfrm>
          <a:prstGeom prst="rect">
            <a:avLst/>
          </a:prstGeom>
          <a:noFill/>
        </p:spPr>
        <p:txBody>
          <a:bodyPr wrap="square">
            <a:spAutoFit/>
          </a:bodyPr>
          <a:lstStyle/>
          <a:p>
            <a:pPr algn="l"/>
            <a:r>
              <a:rPr sz="3000" b="1" i="0">
                <a:solidFill>
                  <a:srgbClr val="FFFFFF"/>
                </a:solidFill>
              </a:rPr>
              <a:t>The Problem</a:t>
            </a:r>
          </a:p>
        </p:txBody>
      </p:sp>
      <p:sp>
        <p:nvSpPr>
          <p:cNvPr id="4" name="Rectangle 3"/>
          <p:cNvSpPr/>
          <p:nvPr/>
        </p:nvSpPr>
        <p:spPr>
          <a:xfrm>
            <a:off x="0" y="1097280"/>
            <a:ext cx="12188952" cy="54864"/>
          </a:xfrm>
          <a:prstGeom prst="rect">
            <a:avLst/>
          </a:prstGeom>
          <a:solidFill>
            <a:srgbClr val="F2A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274320" y="1371600"/>
            <a:ext cx="11521440" cy="1005840"/>
          </a:xfrm>
          <a:prstGeom prst="rect">
            <a:avLst/>
          </a:prstGeom>
          <a:solidFill>
            <a:srgbClr val="FFF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17320"/>
            <a:ext cx="11155680" cy="914400"/>
          </a:xfrm>
          <a:prstGeom prst="rect">
            <a:avLst/>
          </a:prstGeom>
          <a:noFill/>
        </p:spPr>
        <p:txBody>
          <a:bodyPr wrap="square">
            <a:spAutoFit/>
          </a:bodyPr>
          <a:lstStyle/>
          <a:p>
            <a:pPr algn="l"/>
            <a:r>
              <a:rPr sz="1900" b="1" i="0">
                <a:solidFill>
                  <a:srgbClr val="8B2C00"/>
                </a:solidFill>
              </a:rPr>
              <a:t>⚠  Insurance companies adding a new Line of Business (LOB) face a
    3–6 month ontology engineering bottleneck — per domain.</a:t>
            </a:r>
          </a:p>
        </p:txBody>
      </p:sp>
      <p:sp>
        <p:nvSpPr>
          <p:cNvPr id="7" name="TextBox 6"/>
          <p:cNvSpPr txBox="1"/>
          <p:nvPr/>
        </p:nvSpPr>
        <p:spPr>
          <a:xfrm>
            <a:off x="365760" y="2606040"/>
            <a:ext cx="11430000" cy="594360"/>
          </a:xfrm>
          <a:prstGeom prst="rect">
            <a:avLst/>
          </a:prstGeom>
          <a:noFill/>
        </p:spPr>
        <p:txBody>
          <a:bodyPr wrap="square">
            <a:spAutoFit/>
          </a:bodyPr>
          <a:lstStyle/>
          <a:p>
            <a:r>
              <a:rPr sz="1700">
                <a:solidFill>
                  <a:srgbClr val="2D2D2D"/>
                </a:solidFill>
              </a:rPr>
              <a:t>  •  Flood, auto, health, liability — each needs its own ontology schema</a:t>
            </a:r>
          </a:p>
        </p:txBody>
      </p:sp>
      <p:sp>
        <p:nvSpPr>
          <p:cNvPr id="8" name="TextBox 7"/>
          <p:cNvSpPr txBox="1"/>
          <p:nvPr/>
        </p:nvSpPr>
        <p:spPr>
          <a:xfrm>
            <a:off x="365760" y="3108960"/>
            <a:ext cx="11430000" cy="594360"/>
          </a:xfrm>
          <a:prstGeom prst="rect">
            <a:avLst/>
          </a:prstGeom>
          <a:noFill/>
        </p:spPr>
        <p:txBody>
          <a:bodyPr wrap="square">
            <a:spAutoFit/>
          </a:bodyPr>
          <a:lstStyle/>
          <a:p>
            <a:r>
              <a:rPr sz="1700">
                <a:solidFill>
                  <a:srgbClr val="2D2D2D"/>
                </a:solidFill>
              </a:rPr>
              <a:t>  •  Current approach: domain experts hand-craft ontologies (slow, expensive, doesn't scale)</a:t>
            </a:r>
          </a:p>
        </p:txBody>
      </p:sp>
      <p:sp>
        <p:nvSpPr>
          <p:cNvPr id="9" name="TextBox 8"/>
          <p:cNvSpPr txBox="1"/>
          <p:nvPr/>
        </p:nvSpPr>
        <p:spPr>
          <a:xfrm>
            <a:off x="365760" y="3611880"/>
            <a:ext cx="11430000" cy="594360"/>
          </a:xfrm>
          <a:prstGeom prst="rect">
            <a:avLst/>
          </a:prstGeom>
          <a:noFill/>
        </p:spPr>
        <p:txBody>
          <a:bodyPr wrap="square">
            <a:spAutoFit/>
          </a:bodyPr>
          <a:lstStyle/>
          <a:p>
            <a:r>
              <a:rPr sz="1700">
                <a:solidFill>
                  <a:srgbClr val="2D2D2D"/>
                </a:solidFill>
              </a:rPr>
              <a:t>  •  No mechanism to reuse structure learned in one domain when adding the next</a:t>
            </a:r>
          </a:p>
        </p:txBody>
      </p:sp>
      <p:sp>
        <p:nvSpPr>
          <p:cNvPr id="10" name="TextBox 9"/>
          <p:cNvSpPr txBox="1"/>
          <p:nvPr/>
        </p:nvSpPr>
        <p:spPr>
          <a:xfrm>
            <a:off x="365760" y="4114800"/>
            <a:ext cx="11430000" cy="594360"/>
          </a:xfrm>
          <a:prstGeom prst="rect">
            <a:avLst/>
          </a:prstGeom>
          <a:noFill/>
        </p:spPr>
        <p:txBody>
          <a:bodyPr wrap="square">
            <a:spAutoFit/>
          </a:bodyPr>
          <a:lstStyle/>
          <a:p>
            <a:r>
              <a:rPr sz="1700">
                <a:solidFill>
                  <a:srgbClr val="2D2D2D"/>
                </a:solidFill>
              </a:rPr>
              <a:t>  •  State-of-practice baseline (LangChain LLMGraphTransformer): extracts triples directly,
     no entity resolution, no ontology, no cross-domain transfer</a:t>
            </a:r>
          </a:p>
        </p:txBody>
      </p:sp>
      <p:sp>
        <p:nvSpPr>
          <p:cNvPr id="11" name="TextBox 10"/>
          <p:cNvSpPr txBox="1"/>
          <p:nvPr/>
        </p:nvSpPr>
        <p:spPr>
          <a:xfrm>
            <a:off x="274320" y="6080760"/>
            <a:ext cx="11430000" cy="594360"/>
          </a:xfrm>
          <a:prstGeom prst="rect">
            <a:avLst/>
          </a:prstGeom>
          <a:noFill/>
        </p:spPr>
        <p:txBody>
          <a:bodyPr wrap="square">
            <a:spAutoFit/>
          </a:bodyPr>
          <a:lstStyle/>
          <a:p>
            <a:pPr algn="l"/>
            <a:r>
              <a:rPr sz="1600" b="1" i="1">
                <a:solidFill>
                  <a:srgbClr val="002B7F"/>
                </a:solidFill>
              </a:rPr>
              <a:t>Our goal: automate this pipeline — induce ontologies from raw data, extend them across LOBs.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97280"/>
          </a:xfrm>
          <a:prstGeom prst="rect">
            <a:avLst/>
          </a:prstGeom>
          <a:solidFill>
            <a:srgbClr val="002B7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137160"/>
            <a:ext cx="11430000" cy="914400"/>
          </a:xfrm>
          <a:prstGeom prst="rect">
            <a:avLst/>
          </a:prstGeom>
          <a:noFill/>
        </p:spPr>
        <p:txBody>
          <a:bodyPr wrap="square">
            <a:spAutoFit/>
          </a:bodyPr>
          <a:lstStyle/>
          <a:p>
            <a:pPr algn="l"/>
            <a:r>
              <a:rPr sz="3000" b="1" i="0">
                <a:solidFill>
                  <a:srgbClr val="FFFFFF"/>
                </a:solidFill>
              </a:rPr>
              <a:t>Our Approach: 4-Zone Pipeline</a:t>
            </a:r>
          </a:p>
        </p:txBody>
      </p:sp>
      <p:sp>
        <p:nvSpPr>
          <p:cNvPr id="4" name="Rectangle 3"/>
          <p:cNvSpPr/>
          <p:nvPr/>
        </p:nvSpPr>
        <p:spPr>
          <a:xfrm>
            <a:off x="0" y="1097280"/>
            <a:ext cx="12188952" cy="54864"/>
          </a:xfrm>
          <a:prstGeom prst="rect">
            <a:avLst/>
          </a:prstGeom>
          <a:solidFill>
            <a:srgbClr val="F2A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57200" y="1371600"/>
            <a:ext cx="2560320" cy="3840480"/>
          </a:xfrm>
          <a:prstGeom prst="rect">
            <a:avLst/>
          </a:prstGeom>
          <a:solidFill>
            <a:srgbClr val="002B7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463040"/>
            <a:ext cx="2377439" cy="685800"/>
          </a:xfrm>
          <a:prstGeom prst="rect">
            <a:avLst/>
          </a:prstGeom>
          <a:noFill/>
        </p:spPr>
        <p:txBody>
          <a:bodyPr wrap="square">
            <a:spAutoFit/>
          </a:bodyPr>
          <a:lstStyle/>
          <a:p>
            <a:pPr algn="ctr"/>
            <a:r>
              <a:rPr sz="1600" b="1" i="0">
                <a:solidFill>
                  <a:srgbClr val="FFFFFF"/>
                </a:solidFill>
              </a:rPr>
              <a:t>Zone 1
Ingestion</a:t>
            </a:r>
          </a:p>
        </p:txBody>
      </p:sp>
      <p:sp>
        <p:nvSpPr>
          <p:cNvPr id="7" name="Rectangle 6"/>
          <p:cNvSpPr/>
          <p:nvPr/>
        </p:nvSpPr>
        <p:spPr>
          <a:xfrm>
            <a:off x="548640" y="2176272"/>
            <a:ext cx="2377439" cy="3657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2286000"/>
            <a:ext cx="2377439" cy="2743200"/>
          </a:xfrm>
          <a:prstGeom prst="rect">
            <a:avLst/>
          </a:prstGeom>
          <a:noFill/>
        </p:spPr>
        <p:txBody>
          <a:bodyPr wrap="square">
            <a:spAutoFit/>
          </a:bodyPr>
          <a:lstStyle/>
          <a:p>
            <a:pPr algn="ctr"/>
            <a:r>
              <a:rPr sz="1300" b="0" i="0">
                <a:solidFill>
                  <a:srgbClr val="FFFFFF"/>
                </a:solidFill>
              </a:rPr>
              <a:t>PDF + CSV
Hybrid chunking
(section-aware
+ semantic merge)</a:t>
            </a:r>
          </a:p>
        </p:txBody>
      </p:sp>
      <p:sp>
        <p:nvSpPr>
          <p:cNvPr id="9" name="TextBox 8"/>
          <p:cNvSpPr txBox="1"/>
          <p:nvPr/>
        </p:nvSpPr>
        <p:spPr>
          <a:xfrm>
            <a:off x="3063239" y="2926080"/>
            <a:ext cx="320040" cy="457200"/>
          </a:xfrm>
          <a:prstGeom prst="rect">
            <a:avLst/>
          </a:prstGeom>
          <a:noFill/>
        </p:spPr>
        <p:txBody>
          <a:bodyPr wrap="square">
            <a:spAutoFit/>
          </a:bodyPr>
          <a:lstStyle/>
          <a:p>
            <a:pPr algn="ctr"/>
            <a:r>
              <a:rPr sz="2400" b="1" i="0">
                <a:solidFill>
                  <a:srgbClr val="F2A900"/>
                </a:solidFill>
              </a:rPr>
              <a:t>→</a:t>
            </a:r>
          </a:p>
        </p:txBody>
      </p:sp>
      <p:sp>
        <p:nvSpPr>
          <p:cNvPr id="10" name="Rectangle 9"/>
          <p:cNvSpPr/>
          <p:nvPr/>
        </p:nvSpPr>
        <p:spPr>
          <a:xfrm>
            <a:off x="3291840" y="1371600"/>
            <a:ext cx="2560320" cy="3840480"/>
          </a:xfrm>
          <a:prstGeom prst="rect">
            <a:avLst/>
          </a:prstGeom>
          <a:solidFill>
            <a:srgbClr val="156E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383280" y="1463040"/>
            <a:ext cx="2377439" cy="685800"/>
          </a:xfrm>
          <a:prstGeom prst="rect">
            <a:avLst/>
          </a:prstGeom>
          <a:noFill/>
        </p:spPr>
        <p:txBody>
          <a:bodyPr wrap="square">
            <a:spAutoFit/>
          </a:bodyPr>
          <a:lstStyle/>
          <a:p>
            <a:pPr algn="ctr"/>
            <a:r>
              <a:rPr sz="1600" b="1" i="0">
                <a:solidFill>
                  <a:srgbClr val="FFFFFF"/>
                </a:solidFill>
              </a:rPr>
              <a:t>Zone 2
Open IE</a:t>
            </a:r>
          </a:p>
        </p:txBody>
      </p:sp>
      <p:sp>
        <p:nvSpPr>
          <p:cNvPr id="12" name="Rectangle 11"/>
          <p:cNvSpPr/>
          <p:nvPr/>
        </p:nvSpPr>
        <p:spPr>
          <a:xfrm>
            <a:off x="3383280" y="2176272"/>
            <a:ext cx="2377439" cy="3657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383280" y="2286000"/>
            <a:ext cx="2377439" cy="2743200"/>
          </a:xfrm>
          <a:prstGeom prst="rect">
            <a:avLst/>
          </a:prstGeom>
          <a:noFill/>
        </p:spPr>
        <p:txBody>
          <a:bodyPr wrap="square">
            <a:spAutoFit/>
          </a:bodyPr>
          <a:lstStyle/>
          <a:p>
            <a:pPr algn="ctr"/>
            <a:r>
              <a:rPr sz="1300" b="0" i="0">
                <a:solidFill>
                  <a:srgbClr val="FFFFFF"/>
                </a:solidFill>
              </a:rPr>
              <a:t>Llama 3.1 8B
Few-shot prompting
→ (s, r, o) triples
Quality filtered</a:t>
            </a:r>
          </a:p>
        </p:txBody>
      </p:sp>
      <p:sp>
        <p:nvSpPr>
          <p:cNvPr id="14" name="TextBox 13"/>
          <p:cNvSpPr txBox="1"/>
          <p:nvPr/>
        </p:nvSpPr>
        <p:spPr>
          <a:xfrm>
            <a:off x="5897880" y="2926080"/>
            <a:ext cx="320040" cy="457200"/>
          </a:xfrm>
          <a:prstGeom prst="rect">
            <a:avLst/>
          </a:prstGeom>
          <a:noFill/>
        </p:spPr>
        <p:txBody>
          <a:bodyPr wrap="square">
            <a:spAutoFit/>
          </a:bodyPr>
          <a:lstStyle/>
          <a:p>
            <a:pPr algn="ctr"/>
            <a:r>
              <a:rPr sz="2400" b="1" i="0">
                <a:solidFill>
                  <a:srgbClr val="F2A900"/>
                </a:solidFill>
              </a:rPr>
              <a:t>→</a:t>
            </a:r>
          </a:p>
        </p:txBody>
      </p:sp>
      <p:sp>
        <p:nvSpPr>
          <p:cNvPr id="15" name="Rectangle 14"/>
          <p:cNvSpPr/>
          <p:nvPr/>
        </p:nvSpPr>
        <p:spPr>
          <a:xfrm>
            <a:off x="6126480" y="1371600"/>
            <a:ext cx="2560320" cy="384048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17920" y="1463040"/>
            <a:ext cx="2377439" cy="685800"/>
          </a:xfrm>
          <a:prstGeom prst="rect">
            <a:avLst/>
          </a:prstGeom>
          <a:noFill/>
        </p:spPr>
        <p:txBody>
          <a:bodyPr wrap="square">
            <a:spAutoFit/>
          </a:bodyPr>
          <a:lstStyle/>
          <a:p>
            <a:pPr algn="ctr"/>
            <a:r>
              <a:rPr sz="1600" b="1" i="0">
                <a:solidFill>
                  <a:srgbClr val="FFFFFF"/>
                </a:solidFill>
              </a:rPr>
              <a:t>Zone 3
Schema Evolution</a:t>
            </a:r>
          </a:p>
        </p:txBody>
      </p:sp>
      <p:sp>
        <p:nvSpPr>
          <p:cNvPr id="17" name="Rectangle 16"/>
          <p:cNvSpPr/>
          <p:nvPr/>
        </p:nvSpPr>
        <p:spPr>
          <a:xfrm>
            <a:off x="6217920" y="2176272"/>
            <a:ext cx="2377439" cy="3657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217920" y="2286000"/>
            <a:ext cx="2377439" cy="2743200"/>
          </a:xfrm>
          <a:prstGeom prst="rect">
            <a:avLst/>
          </a:prstGeom>
          <a:noFill/>
        </p:spPr>
        <p:txBody>
          <a:bodyPr wrap="square">
            <a:spAutoFit/>
          </a:bodyPr>
          <a:lstStyle/>
          <a:p>
            <a:pPr algn="ctr"/>
            <a:r>
              <a:rPr sz="1300" b="0" i="0">
                <a:solidFill>
                  <a:srgbClr val="FFFFFF"/>
                </a:solidFill>
              </a:rPr>
              <a:t>Leiden clustering
Ontology induction
Entity resolution
Cross-domain transfer</a:t>
            </a:r>
          </a:p>
        </p:txBody>
      </p:sp>
      <p:sp>
        <p:nvSpPr>
          <p:cNvPr id="19" name="TextBox 18"/>
          <p:cNvSpPr txBox="1"/>
          <p:nvPr/>
        </p:nvSpPr>
        <p:spPr>
          <a:xfrm>
            <a:off x="8732520" y="2926080"/>
            <a:ext cx="320040" cy="457200"/>
          </a:xfrm>
          <a:prstGeom prst="rect">
            <a:avLst/>
          </a:prstGeom>
          <a:noFill/>
        </p:spPr>
        <p:txBody>
          <a:bodyPr wrap="square">
            <a:spAutoFit/>
          </a:bodyPr>
          <a:lstStyle/>
          <a:p>
            <a:pPr algn="ctr"/>
            <a:r>
              <a:rPr sz="2400" b="1" i="0">
                <a:solidFill>
                  <a:srgbClr val="F2A900"/>
                </a:solidFill>
              </a:rPr>
              <a:t>→</a:t>
            </a:r>
          </a:p>
        </p:txBody>
      </p:sp>
      <p:sp>
        <p:nvSpPr>
          <p:cNvPr id="20" name="Rectangle 19"/>
          <p:cNvSpPr/>
          <p:nvPr/>
        </p:nvSpPr>
        <p:spPr>
          <a:xfrm>
            <a:off x="8961120" y="1371600"/>
            <a:ext cx="2560320" cy="3840480"/>
          </a:xfrm>
          <a:prstGeom prst="rect">
            <a:avLst/>
          </a:prstGeom>
          <a:solidFill>
            <a:srgbClr val="6B35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052560" y="1463040"/>
            <a:ext cx="2377439" cy="685800"/>
          </a:xfrm>
          <a:prstGeom prst="rect">
            <a:avLst/>
          </a:prstGeom>
          <a:noFill/>
        </p:spPr>
        <p:txBody>
          <a:bodyPr wrap="square">
            <a:spAutoFit/>
          </a:bodyPr>
          <a:lstStyle/>
          <a:p>
            <a:pPr algn="ctr"/>
            <a:r>
              <a:rPr sz="1600" b="1" i="0">
                <a:solidFill>
                  <a:srgbClr val="FFFFFF"/>
                </a:solidFill>
              </a:rPr>
              <a:t>Zone 4
Neo4j Storage</a:t>
            </a:r>
          </a:p>
        </p:txBody>
      </p:sp>
      <p:sp>
        <p:nvSpPr>
          <p:cNvPr id="22" name="Rectangle 21"/>
          <p:cNvSpPr/>
          <p:nvPr/>
        </p:nvSpPr>
        <p:spPr>
          <a:xfrm>
            <a:off x="9052560" y="2176272"/>
            <a:ext cx="2377439" cy="3657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052560" y="2286000"/>
            <a:ext cx="2377439" cy="2743200"/>
          </a:xfrm>
          <a:prstGeom prst="rect">
            <a:avLst/>
          </a:prstGeom>
          <a:noFill/>
        </p:spPr>
        <p:txBody>
          <a:bodyPr wrap="square">
            <a:spAutoFit/>
          </a:bodyPr>
          <a:lstStyle/>
          <a:p>
            <a:pPr algn="ctr"/>
            <a:r>
              <a:rPr sz="1300" b="0" i="0">
                <a:solidFill>
                  <a:srgbClr val="FFFFFF"/>
                </a:solidFill>
              </a:rPr>
              <a:t>3-layer graph:
Ontology classes
Entity types
Entity instances</a:t>
            </a:r>
          </a:p>
        </p:txBody>
      </p:sp>
      <p:sp>
        <p:nvSpPr>
          <p:cNvPr id="24" name="Rectangle 23"/>
          <p:cNvSpPr/>
          <p:nvPr/>
        </p:nvSpPr>
        <p:spPr>
          <a:xfrm>
            <a:off x="457200" y="5349240"/>
            <a:ext cx="2560320" cy="256032"/>
          </a:xfrm>
          <a:prstGeom prst="rect">
            <a:avLst/>
          </a:prstGeom>
          <a:solidFill>
            <a:srgbClr val="F2A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57200" y="5367528"/>
            <a:ext cx="2560320" cy="228600"/>
          </a:xfrm>
          <a:prstGeom prst="rect">
            <a:avLst/>
          </a:prstGeom>
          <a:noFill/>
        </p:spPr>
        <p:txBody>
          <a:bodyPr wrap="square">
            <a:spAutoFit/>
          </a:bodyPr>
          <a:lstStyle/>
          <a:p>
            <a:pPr algn="ctr"/>
            <a:r>
              <a:rPr sz="1200" b="1" i="0">
                <a:solidFill>
                  <a:srgbClr val="002B7F"/>
                </a:solidFill>
              </a:rPr>
              <a:t>✓ DONE</a:t>
            </a:r>
          </a:p>
        </p:txBody>
      </p:sp>
      <p:sp>
        <p:nvSpPr>
          <p:cNvPr id="26" name="Rectangle 25"/>
          <p:cNvSpPr/>
          <p:nvPr/>
        </p:nvSpPr>
        <p:spPr>
          <a:xfrm>
            <a:off x="3291840" y="5349240"/>
            <a:ext cx="2560320" cy="256032"/>
          </a:xfrm>
          <a:prstGeom prst="rect">
            <a:avLst/>
          </a:prstGeom>
          <a:solidFill>
            <a:srgbClr val="F2A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291840" y="5367528"/>
            <a:ext cx="2560320" cy="228600"/>
          </a:xfrm>
          <a:prstGeom prst="rect">
            <a:avLst/>
          </a:prstGeom>
          <a:noFill/>
        </p:spPr>
        <p:txBody>
          <a:bodyPr wrap="square">
            <a:spAutoFit/>
          </a:bodyPr>
          <a:lstStyle/>
          <a:p>
            <a:pPr algn="ctr"/>
            <a:r>
              <a:rPr sz="1200" b="1" i="0">
                <a:solidFill>
                  <a:srgbClr val="002B7F"/>
                </a:solidFill>
              </a:rPr>
              <a:t>NEXT →</a:t>
            </a:r>
          </a:p>
        </p:txBody>
      </p:sp>
      <p:sp>
        <p:nvSpPr>
          <p:cNvPr id="28" name="TextBox 27"/>
          <p:cNvSpPr txBox="1"/>
          <p:nvPr/>
        </p:nvSpPr>
        <p:spPr>
          <a:xfrm>
            <a:off x="274320" y="5760720"/>
            <a:ext cx="11521440" cy="594360"/>
          </a:xfrm>
          <a:prstGeom prst="rect">
            <a:avLst/>
          </a:prstGeom>
          <a:noFill/>
        </p:spPr>
        <p:txBody>
          <a:bodyPr wrap="square">
            <a:spAutoFit/>
          </a:bodyPr>
          <a:lstStyle/>
          <a:p>
            <a:pPr algn="l"/>
            <a:r>
              <a:rPr sz="1400" b="1" i="1">
                <a:solidFill>
                  <a:srgbClr val="002B7F"/>
                </a:solidFill>
              </a:rPr>
              <a:t>★  Novel contribution: Zone 3 — bottom-up ontology induction via Leiden community detection + cross-domain transfer</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97280"/>
          </a:xfrm>
          <a:prstGeom prst="rect">
            <a:avLst/>
          </a:prstGeom>
          <a:solidFill>
            <a:srgbClr val="002B7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137160"/>
            <a:ext cx="11430000" cy="914400"/>
          </a:xfrm>
          <a:prstGeom prst="rect">
            <a:avLst/>
          </a:prstGeom>
          <a:noFill/>
        </p:spPr>
        <p:txBody>
          <a:bodyPr wrap="square">
            <a:spAutoFit/>
          </a:bodyPr>
          <a:lstStyle/>
          <a:p>
            <a:pPr algn="l"/>
            <a:r>
              <a:rPr sz="3000" b="1" i="0">
                <a:solidFill>
                  <a:srgbClr val="FFFFFF"/>
                </a:solidFill>
              </a:rPr>
              <a:t>Dataset</a:t>
            </a:r>
          </a:p>
        </p:txBody>
      </p:sp>
      <p:sp>
        <p:nvSpPr>
          <p:cNvPr id="4" name="Rectangle 3"/>
          <p:cNvSpPr/>
          <p:nvPr/>
        </p:nvSpPr>
        <p:spPr>
          <a:xfrm>
            <a:off x="0" y="1097280"/>
            <a:ext cx="12188952" cy="54864"/>
          </a:xfrm>
          <a:prstGeom prst="rect">
            <a:avLst/>
          </a:prstGeom>
          <a:solidFill>
            <a:srgbClr val="F2A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274320" y="1325880"/>
            <a:ext cx="5486400" cy="4114800"/>
          </a:xfrm>
          <a:prstGeom prst="rect">
            <a:avLst/>
          </a:prstGeom>
          <a:solidFill>
            <a:srgbClr val="E8F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11480" y="1417320"/>
            <a:ext cx="5212080" cy="457200"/>
          </a:xfrm>
          <a:prstGeom prst="rect">
            <a:avLst/>
          </a:prstGeom>
          <a:noFill/>
        </p:spPr>
        <p:txBody>
          <a:bodyPr wrap="square">
            <a:spAutoFit/>
          </a:bodyPr>
          <a:lstStyle/>
          <a:p>
            <a:pPr algn="l"/>
            <a:r>
              <a:rPr sz="1600" b="1" i="0">
                <a:solidFill>
                  <a:srgbClr val="002B7F"/>
                </a:solidFill>
              </a:rPr>
              <a:t>🌊  NFIP Flood Insurance  (Primary)</a:t>
            </a:r>
          </a:p>
        </p:txBody>
      </p:sp>
      <p:sp>
        <p:nvSpPr>
          <p:cNvPr id="7" name="TextBox 6"/>
          <p:cNvSpPr txBox="1"/>
          <p:nvPr/>
        </p:nvSpPr>
        <p:spPr>
          <a:xfrm>
            <a:off x="411480" y="1965960"/>
            <a:ext cx="5212080" cy="274320"/>
          </a:xfrm>
          <a:prstGeom prst="rect">
            <a:avLst/>
          </a:prstGeom>
          <a:noFill/>
        </p:spPr>
        <p:txBody>
          <a:bodyPr wrap="square">
            <a:spAutoFit/>
          </a:bodyPr>
          <a:lstStyle/>
          <a:p>
            <a:pPr algn="l"/>
            <a:r>
              <a:rPr sz="1400" b="1" i="0">
                <a:solidFill>
                  <a:srgbClr val="2D2D2D"/>
                </a:solidFill>
              </a:rPr>
              <a:t>  •  SFIP PDF (F-123)</a:t>
            </a:r>
          </a:p>
        </p:txBody>
      </p:sp>
      <p:sp>
        <p:nvSpPr>
          <p:cNvPr id="8" name="TextBox 7"/>
          <p:cNvSpPr txBox="1"/>
          <p:nvPr/>
        </p:nvSpPr>
        <p:spPr>
          <a:xfrm>
            <a:off x="411480" y="2221991"/>
            <a:ext cx="5212080" cy="457200"/>
          </a:xfrm>
          <a:prstGeom prst="rect">
            <a:avLst/>
          </a:prstGeom>
          <a:noFill/>
        </p:spPr>
        <p:txBody>
          <a:bodyPr wrap="square">
            <a:spAutoFit/>
          </a:bodyPr>
          <a:lstStyle/>
          <a:p>
            <a:pPr algn="l"/>
            <a:r>
              <a:rPr sz="1200" b="0" i="0">
                <a:solidFill>
                  <a:srgbClr val="555555"/>
                </a:solidFill>
              </a:rPr>
              <a:t>       27-page policy doc
       → Zone 1: 49 section-aware chunks
       (vs. baseline: 56 fixed 512-token chunks)</a:t>
            </a:r>
          </a:p>
        </p:txBody>
      </p:sp>
      <p:sp>
        <p:nvSpPr>
          <p:cNvPr id="9" name="TextBox 8"/>
          <p:cNvSpPr txBox="1"/>
          <p:nvPr/>
        </p:nvSpPr>
        <p:spPr>
          <a:xfrm>
            <a:off x="411480" y="2715768"/>
            <a:ext cx="5212080" cy="274320"/>
          </a:xfrm>
          <a:prstGeom prst="rect">
            <a:avLst/>
          </a:prstGeom>
          <a:noFill/>
        </p:spPr>
        <p:txBody>
          <a:bodyPr wrap="square">
            <a:spAutoFit/>
          </a:bodyPr>
          <a:lstStyle/>
          <a:p>
            <a:pPr algn="l"/>
            <a:r>
              <a:rPr sz="1400" b="1" i="0">
                <a:solidFill>
                  <a:srgbClr val="2D2D2D"/>
                </a:solidFill>
              </a:rPr>
              <a:t>  •  OpenFEMA Policies</a:t>
            </a:r>
          </a:p>
        </p:txBody>
      </p:sp>
      <p:sp>
        <p:nvSpPr>
          <p:cNvPr id="10" name="TextBox 9"/>
          <p:cNvSpPr txBox="1"/>
          <p:nvPr/>
        </p:nvSpPr>
        <p:spPr>
          <a:xfrm>
            <a:off x="411480" y="2971800"/>
            <a:ext cx="5212080" cy="457200"/>
          </a:xfrm>
          <a:prstGeom prst="rect">
            <a:avLst/>
          </a:prstGeom>
          <a:noFill/>
        </p:spPr>
        <p:txBody>
          <a:bodyPr wrap="square">
            <a:spAutoFit/>
          </a:bodyPr>
          <a:lstStyle/>
          <a:p>
            <a:pPr algn="l"/>
            <a:r>
              <a:rPr sz="1200" b="0" i="0">
                <a:solidFill>
                  <a:srgbClr val="555555"/>
                </a:solidFill>
              </a:rPr>
              <a:t>       500 records (sample)
       Full dataset: 100K+</a:t>
            </a:r>
          </a:p>
        </p:txBody>
      </p:sp>
      <p:sp>
        <p:nvSpPr>
          <p:cNvPr id="11" name="TextBox 10"/>
          <p:cNvSpPr txBox="1"/>
          <p:nvPr/>
        </p:nvSpPr>
        <p:spPr>
          <a:xfrm>
            <a:off x="411480" y="3465575"/>
            <a:ext cx="5212080" cy="274320"/>
          </a:xfrm>
          <a:prstGeom prst="rect">
            <a:avLst/>
          </a:prstGeom>
          <a:noFill/>
        </p:spPr>
        <p:txBody>
          <a:bodyPr wrap="square">
            <a:spAutoFit/>
          </a:bodyPr>
          <a:lstStyle/>
          <a:p>
            <a:pPr algn="l"/>
            <a:r>
              <a:rPr sz="1400" b="1" i="0">
                <a:solidFill>
                  <a:srgbClr val="2D2D2D"/>
                </a:solidFill>
              </a:rPr>
              <a:t>  •  OpenFEMA Claims</a:t>
            </a:r>
          </a:p>
        </p:txBody>
      </p:sp>
      <p:sp>
        <p:nvSpPr>
          <p:cNvPr id="12" name="TextBox 11"/>
          <p:cNvSpPr txBox="1"/>
          <p:nvPr/>
        </p:nvSpPr>
        <p:spPr>
          <a:xfrm>
            <a:off x="411480" y="3721607"/>
            <a:ext cx="5212080" cy="457200"/>
          </a:xfrm>
          <a:prstGeom prst="rect">
            <a:avLst/>
          </a:prstGeom>
          <a:noFill/>
        </p:spPr>
        <p:txBody>
          <a:bodyPr wrap="square">
            <a:spAutoFit/>
          </a:bodyPr>
          <a:lstStyle/>
          <a:p>
            <a:pPr algn="l"/>
            <a:r>
              <a:rPr sz="1200" b="0" i="0">
                <a:solidFill>
                  <a:srgbClr val="555555"/>
                </a:solidFill>
              </a:rPr>
              <a:t>       500 records (sample)
       Full dataset: 50K+</a:t>
            </a:r>
          </a:p>
        </p:txBody>
      </p:sp>
      <p:sp>
        <p:nvSpPr>
          <p:cNvPr id="13" name="TextBox 12"/>
          <p:cNvSpPr txBox="1"/>
          <p:nvPr/>
        </p:nvSpPr>
        <p:spPr>
          <a:xfrm>
            <a:off x="411480" y="4215383"/>
            <a:ext cx="5212080" cy="274320"/>
          </a:xfrm>
          <a:prstGeom prst="rect">
            <a:avLst/>
          </a:prstGeom>
          <a:noFill/>
        </p:spPr>
        <p:txBody>
          <a:bodyPr wrap="square">
            <a:spAutoFit/>
          </a:bodyPr>
          <a:lstStyle/>
          <a:p>
            <a:pPr algn="l"/>
            <a:r>
              <a:rPr sz="1400" b="1" i="0">
                <a:solidFill>
                  <a:srgbClr val="2D2D2D"/>
                </a:solidFill>
              </a:rPr>
              <a:t>  •  Total (full run)</a:t>
            </a:r>
          </a:p>
        </p:txBody>
      </p:sp>
      <p:sp>
        <p:nvSpPr>
          <p:cNvPr id="14" name="TextBox 13"/>
          <p:cNvSpPr txBox="1"/>
          <p:nvPr/>
        </p:nvSpPr>
        <p:spPr>
          <a:xfrm>
            <a:off x="411480" y="4471416"/>
            <a:ext cx="5212080" cy="457200"/>
          </a:xfrm>
          <a:prstGeom prst="rect">
            <a:avLst/>
          </a:prstGeom>
          <a:noFill/>
        </p:spPr>
        <p:txBody>
          <a:bodyPr wrap="square">
            <a:spAutoFit/>
          </a:bodyPr>
          <a:lstStyle/>
          <a:p>
            <a:pPr algn="l"/>
            <a:r>
              <a:rPr sz="1200" b="0" i="0">
                <a:solidFill>
                  <a:srgbClr val="555555"/>
                </a:solidFill>
              </a:rPr>
              <a:t>       ~150K records across PDF + CSV</a:t>
            </a:r>
          </a:p>
        </p:txBody>
      </p:sp>
      <p:sp>
        <p:nvSpPr>
          <p:cNvPr id="15" name="Rectangle 14"/>
          <p:cNvSpPr/>
          <p:nvPr/>
        </p:nvSpPr>
        <p:spPr>
          <a:xfrm>
            <a:off x="6217920" y="1325880"/>
            <a:ext cx="5486400" cy="4114800"/>
          </a:xfrm>
          <a:prstGeom prst="rect">
            <a:avLst/>
          </a:prstGeom>
          <a:solidFill>
            <a:srgbClr val="E8FF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55080" y="1417320"/>
            <a:ext cx="5212080" cy="457200"/>
          </a:xfrm>
          <a:prstGeom prst="rect">
            <a:avLst/>
          </a:prstGeom>
          <a:noFill/>
        </p:spPr>
        <p:txBody>
          <a:bodyPr wrap="square">
            <a:spAutoFit/>
          </a:bodyPr>
          <a:lstStyle/>
          <a:p>
            <a:pPr algn="l"/>
            <a:r>
              <a:rPr sz="1600" b="1" i="0">
                <a:solidFill>
                  <a:srgbClr val="1B7F3B"/>
                </a:solidFill>
              </a:rPr>
              <a:t>🚗  Kaggle Auto Insurance  (Transfer study)</a:t>
            </a:r>
          </a:p>
        </p:txBody>
      </p:sp>
      <p:sp>
        <p:nvSpPr>
          <p:cNvPr id="17" name="TextBox 16"/>
          <p:cNvSpPr txBox="1"/>
          <p:nvPr/>
        </p:nvSpPr>
        <p:spPr>
          <a:xfrm>
            <a:off x="6355080" y="1965960"/>
            <a:ext cx="5212080" cy="274320"/>
          </a:xfrm>
          <a:prstGeom prst="rect">
            <a:avLst/>
          </a:prstGeom>
          <a:noFill/>
        </p:spPr>
        <p:txBody>
          <a:bodyPr wrap="square">
            <a:spAutoFit/>
          </a:bodyPr>
          <a:lstStyle/>
          <a:p>
            <a:pPr algn="l"/>
            <a:r>
              <a:rPr sz="1400" b="1" i="0">
                <a:solidFill>
                  <a:srgbClr val="2D2D2D"/>
                </a:solidFill>
              </a:rPr>
              <a:t>  •  60K policy records</a:t>
            </a:r>
          </a:p>
        </p:txBody>
      </p:sp>
      <p:sp>
        <p:nvSpPr>
          <p:cNvPr id="18" name="TextBox 17"/>
          <p:cNvSpPr txBox="1"/>
          <p:nvPr/>
        </p:nvSpPr>
        <p:spPr>
          <a:xfrm>
            <a:off x="6355080" y="2221991"/>
            <a:ext cx="5212080" cy="457200"/>
          </a:xfrm>
          <a:prstGeom prst="rect">
            <a:avLst/>
          </a:prstGeom>
          <a:noFill/>
        </p:spPr>
        <p:txBody>
          <a:bodyPr wrap="square">
            <a:spAutoFit/>
          </a:bodyPr>
          <a:lstStyle/>
          <a:p>
            <a:pPr algn="l"/>
            <a:r>
              <a:rPr sz="1200" b="0" i="0">
                <a:solidFill>
                  <a:srgbClr val="555555"/>
                </a:solidFill>
              </a:rPr>
              <a:t>       Cross-domain transfer evaluation
       (Weeks 8–9)</a:t>
            </a:r>
          </a:p>
        </p:txBody>
      </p:sp>
      <p:sp>
        <p:nvSpPr>
          <p:cNvPr id="19" name="TextBox 18"/>
          <p:cNvSpPr txBox="1"/>
          <p:nvPr/>
        </p:nvSpPr>
        <p:spPr>
          <a:xfrm>
            <a:off x="6355080" y="2715768"/>
            <a:ext cx="5212080" cy="274320"/>
          </a:xfrm>
          <a:prstGeom prst="rect">
            <a:avLst/>
          </a:prstGeom>
          <a:noFill/>
        </p:spPr>
        <p:txBody>
          <a:bodyPr wrap="square">
            <a:spAutoFit/>
          </a:bodyPr>
          <a:lstStyle/>
          <a:p>
            <a:pPr algn="l"/>
            <a:r>
              <a:rPr sz="1400" b="1" i="0">
                <a:solidFill>
                  <a:srgbClr val="2D2D2D"/>
                </a:solidFill>
              </a:rPr>
              <a:t>  •  Target CTR &gt; 60%</a:t>
            </a:r>
          </a:p>
        </p:txBody>
      </p:sp>
      <p:sp>
        <p:nvSpPr>
          <p:cNvPr id="20" name="TextBox 19"/>
          <p:cNvSpPr txBox="1"/>
          <p:nvPr/>
        </p:nvSpPr>
        <p:spPr>
          <a:xfrm>
            <a:off x="6355080" y="2971800"/>
            <a:ext cx="5212080" cy="457200"/>
          </a:xfrm>
          <a:prstGeom prst="rect">
            <a:avLst/>
          </a:prstGeom>
          <a:noFill/>
        </p:spPr>
        <p:txBody>
          <a:bodyPr wrap="square">
            <a:spAutoFit/>
          </a:bodyPr>
          <a:lstStyle/>
          <a:p>
            <a:pPr algn="l"/>
            <a:r>
              <a:rPr sz="1200" b="0" i="0">
                <a:solidFill>
                  <a:srgbClr val="555555"/>
                </a:solidFill>
              </a:rPr>
              <a:t>       Class Transfer Rate — how much
       flood ontology reuses in auto</a:t>
            </a:r>
          </a:p>
        </p:txBody>
      </p:sp>
      <p:sp>
        <p:nvSpPr>
          <p:cNvPr id="21" name="TextBox 20"/>
          <p:cNvSpPr txBox="1"/>
          <p:nvPr/>
        </p:nvSpPr>
        <p:spPr>
          <a:xfrm>
            <a:off x="6355080" y="3465575"/>
            <a:ext cx="5212080" cy="274320"/>
          </a:xfrm>
          <a:prstGeom prst="rect">
            <a:avLst/>
          </a:prstGeom>
          <a:noFill/>
        </p:spPr>
        <p:txBody>
          <a:bodyPr wrap="square">
            <a:spAutoFit/>
          </a:bodyPr>
          <a:lstStyle/>
          <a:p>
            <a:pPr algn="l"/>
            <a:r>
              <a:rPr sz="1400" b="1" i="0">
                <a:solidFill>
                  <a:srgbClr val="2D2D2D"/>
                </a:solidFill>
              </a:rPr>
              <a:t>  •  Target PTR &gt; 50%</a:t>
            </a:r>
          </a:p>
        </p:txBody>
      </p:sp>
      <p:sp>
        <p:nvSpPr>
          <p:cNvPr id="22" name="TextBox 21"/>
          <p:cNvSpPr txBox="1"/>
          <p:nvPr/>
        </p:nvSpPr>
        <p:spPr>
          <a:xfrm>
            <a:off x="6355080" y="3721607"/>
            <a:ext cx="5212080" cy="457200"/>
          </a:xfrm>
          <a:prstGeom prst="rect">
            <a:avLst/>
          </a:prstGeom>
          <a:noFill/>
        </p:spPr>
        <p:txBody>
          <a:bodyPr wrap="square">
            <a:spAutoFit/>
          </a:bodyPr>
          <a:lstStyle/>
          <a:p>
            <a:pPr algn="l"/>
            <a:r>
              <a:rPr sz="1200" b="0" i="0">
                <a:solidFill>
                  <a:srgbClr val="555555"/>
                </a:solidFill>
              </a:rPr>
              <a:t>       Property Transfer Rate — shared
       properties across domains</a:t>
            </a:r>
          </a:p>
        </p:txBody>
      </p:sp>
      <p:sp>
        <p:nvSpPr>
          <p:cNvPr id="23" name="Rectangle 22"/>
          <p:cNvSpPr/>
          <p:nvPr/>
        </p:nvSpPr>
        <p:spPr>
          <a:xfrm>
            <a:off x="274320" y="5577840"/>
            <a:ext cx="11430000" cy="640080"/>
          </a:xfrm>
          <a:prstGeom prst="rect">
            <a:avLst/>
          </a:prstGeom>
          <a:solidFill>
            <a:srgbClr val="FFF8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57200" y="5641848"/>
            <a:ext cx="10972800" cy="502920"/>
          </a:xfrm>
          <a:prstGeom prst="rect">
            <a:avLst/>
          </a:prstGeom>
          <a:noFill/>
        </p:spPr>
        <p:txBody>
          <a:bodyPr wrap="square">
            <a:spAutoFit/>
          </a:bodyPr>
          <a:lstStyle/>
          <a:p>
            <a:pPr algn="l"/>
            <a:r>
              <a:rPr sz="1400" b="1" i="0">
                <a:solidFill>
                  <a:srgbClr val="7B5B00"/>
                </a:solidFill>
              </a:rPr>
              <a:t>📐  Reference Ontology:  Riskine  (github.com/riskine/ontology)  —  used for Precision / Recall / F1 evaluation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97280"/>
          </a:xfrm>
          <a:prstGeom prst="rect">
            <a:avLst/>
          </a:prstGeom>
          <a:solidFill>
            <a:srgbClr val="002B7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137160"/>
            <a:ext cx="11430000" cy="914400"/>
          </a:xfrm>
          <a:prstGeom prst="rect">
            <a:avLst/>
          </a:prstGeom>
          <a:noFill/>
        </p:spPr>
        <p:txBody>
          <a:bodyPr wrap="square">
            <a:spAutoFit/>
          </a:bodyPr>
          <a:lstStyle/>
          <a:p>
            <a:pPr algn="l"/>
            <a:r>
              <a:rPr sz="2800" b="1" i="0">
                <a:solidFill>
                  <a:srgbClr val="FFFFFF"/>
                </a:solidFill>
              </a:rPr>
              <a:t>Baseline: LangChain LLMGraphTransformer</a:t>
            </a:r>
          </a:p>
        </p:txBody>
      </p:sp>
      <p:sp>
        <p:nvSpPr>
          <p:cNvPr id="4" name="Rectangle 3"/>
          <p:cNvSpPr/>
          <p:nvPr/>
        </p:nvSpPr>
        <p:spPr>
          <a:xfrm>
            <a:off x="0" y="1097280"/>
            <a:ext cx="12188952" cy="54864"/>
          </a:xfrm>
          <a:prstGeom prst="rect">
            <a:avLst/>
          </a:prstGeom>
          <a:solidFill>
            <a:srgbClr val="F2A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1280160"/>
            <a:ext cx="10972800" cy="411480"/>
          </a:xfrm>
          <a:prstGeom prst="rect">
            <a:avLst/>
          </a:prstGeom>
          <a:noFill/>
        </p:spPr>
        <p:txBody>
          <a:bodyPr wrap="square">
            <a:spAutoFit/>
          </a:bodyPr>
          <a:lstStyle/>
          <a:p>
            <a:pPr algn="l"/>
            <a:r>
              <a:rPr sz="1600" b="0" i="1">
                <a:solidFill>
                  <a:srgbClr val="555555"/>
                </a:solidFill>
              </a:rPr>
              <a:t>The current state-of-practice — what we compare against</a:t>
            </a:r>
          </a:p>
        </p:txBody>
      </p:sp>
      <p:sp>
        <p:nvSpPr>
          <p:cNvPr id="6" name="Rectangle 5"/>
          <p:cNvSpPr/>
          <p:nvPr/>
        </p:nvSpPr>
        <p:spPr>
          <a:xfrm>
            <a:off x="365760" y="1920240"/>
            <a:ext cx="2468880" cy="1371600"/>
          </a:xfrm>
          <a:prstGeom prst="rect">
            <a:avLst/>
          </a:prstGeom>
          <a:solidFill>
            <a:srgbClr val="4A6F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2011680"/>
            <a:ext cx="2286000" cy="1188720"/>
          </a:xfrm>
          <a:prstGeom prst="rect">
            <a:avLst/>
          </a:prstGeom>
          <a:noFill/>
        </p:spPr>
        <p:txBody>
          <a:bodyPr wrap="square">
            <a:spAutoFit/>
          </a:bodyPr>
          <a:lstStyle/>
          <a:p>
            <a:pPr algn="ctr"/>
            <a:r>
              <a:rPr sz="1400" b="0" i="0">
                <a:solidFill>
                  <a:srgbClr val="FFFFFF"/>
                </a:solidFill>
              </a:rPr>
              <a:t>Fixed 512-token
chunks
(sliding window)</a:t>
            </a:r>
          </a:p>
        </p:txBody>
      </p:sp>
      <p:sp>
        <p:nvSpPr>
          <p:cNvPr id="8" name="TextBox 7"/>
          <p:cNvSpPr txBox="1"/>
          <p:nvPr/>
        </p:nvSpPr>
        <p:spPr>
          <a:xfrm>
            <a:off x="2880360" y="2423160"/>
            <a:ext cx="320040" cy="457200"/>
          </a:xfrm>
          <a:prstGeom prst="rect">
            <a:avLst/>
          </a:prstGeom>
          <a:noFill/>
        </p:spPr>
        <p:txBody>
          <a:bodyPr wrap="square">
            <a:spAutoFit/>
          </a:bodyPr>
          <a:lstStyle/>
          <a:p>
            <a:pPr algn="ctr"/>
            <a:r>
              <a:rPr sz="2200" b="1" i="0">
                <a:solidFill>
                  <a:srgbClr val="2D2D2D"/>
                </a:solidFill>
              </a:rPr>
              <a:t>→</a:t>
            </a:r>
          </a:p>
        </p:txBody>
      </p:sp>
      <p:sp>
        <p:nvSpPr>
          <p:cNvPr id="9" name="Rectangle 8"/>
          <p:cNvSpPr/>
          <p:nvPr/>
        </p:nvSpPr>
        <p:spPr>
          <a:xfrm>
            <a:off x="3200400" y="1920240"/>
            <a:ext cx="2468880" cy="1371600"/>
          </a:xfrm>
          <a:prstGeom prst="rect">
            <a:avLst/>
          </a:prstGeom>
          <a:solidFill>
            <a:srgbClr val="4A6F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291840" y="2011680"/>
            <a:ext cx="2286000" cy="1188720"/>
          </a:xfrm>
          <a:prstGeom prst="rect">
            <a:avLst/>
          </a:prstGeom>
          <a:noFill/>
        </p:spPr>
        <p:txBody>
          <a:bodyPr wrap="square">
            <a:spAutoFit/>
          </a:bodyPr>
          <a:lstStyle/>
          <a:p>
            <a:pPr algn="ctr"/>
            <a:r>
              <a:rPr sz="1400" b="0" i="0">
                <a:solidFill>
                  <a:srgbClr val="FFFFFF"/>
                </a:solidFill>
              </a:rPr>
              <a:t>LLMGraphTransformer
(Llama 3.1 8B)
no constraints</a:t>
            </a:r>
          </a:p>
        </p:txBody>
      </p:sp>
      <p:sp>
        <p:nvSpPr>
          <p:cNvPr id="11" name="TextBox 10"/>
          <p:cNvSpPr txBox="1"/>
          <p:nvPr/>
        </p:nvSpPr>
        <p:spPr>
          <a:xfrm>
            <a:off x="5715000" y="2423160"/>
            <a:ext cx="320040" cy="457200"/>
          </a:xfrm>
          <a:prstGeom prst="rect">
            <a:avLst/>
          </a:prstGeom>
          <a:noFill/>
        </p:spPr>
        <p:txBody>
          <a:bodyPr wrap="square">
            <a:spAutoFit/>
          </a:bodyPr>
          <a:lstStyle/>
          <a:p>
            <a:pPr algn="ctr"/>
            <a:r>
              <a:rPr sz="2200" b="1" i="0">
                <a:solidFill>
                  <a:srgbClr val="2D2D2D"/>
                </a:solidFill>
              </a:rPr>
              <a:t>→</a:t>
            </a:r>
          </a:p>
        </p:txBody>
      </p:sp>
      <p:sp>
        <p:nvSpPr>
          <p:cNvPr id="12" name="Rectangle 11"/>
          <p:cNvSpPr/>
          <p:nvPr/>
        </p:nvSpPr>
        <p:spPr>
          <a:xfrm>
            <a:off x="6035040" y="1920240"/>
            <a:ext cx="2468880" cy="1371600"/>
          </a:xfrm>
          <a:prstGeom prst="rect">
            <a:avLst/>
          </a:prstGeom>
          <a:solidFill>
            <a:srgbClr val="4A6F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126479" y="2011680"/>
            <a:ext cx="2286000" cy="1188720"/>
          </a:xfrm>
          <a:prstGeom prst="rect">
            <a:avLst/>
          </a:prstGeom>
          <a:noFill/>
        </p:spPr>
        <p:txBody>
          <a:bodyPr wrap="square">
            <a:spAutoFit/>
          </a:bodyPr>
          <a:lstStyle/>
          <a:p>
            <a:pPr algn="ctr"/>
            <a:r>
              <a:rPr sz="1400" b="0" i="0">
                <a:solidFill>
                  <a:srgbClr val="FFFFFF"/>
                </a:solidFill>
              </a:rPr>
              <a:t>Direct Neo4j
insertion
(no deduplication)</a:t>
            </a:r>
          </a:p>
        </p:txBody>
      </p:sp>
      <p:sp>
        <p:nvSpPr>
          <p:cNvPr id="14" name="TextBox 13"/>
          <p:cNvSpPr txBox="1"/>
          <p:nvPr/>
        </p:nvSpPr>
        <p:spPr>
          <a:xfrm>
            <a:off x="8549640" y="2423160"/>
            <a:ext cx="320040" cy="457200"/>
          </a:xfrm>
          <a:prstGeom prst="rect">
            <a:avLst/>
          </a:prstGeom>
          <a:noFill/>
        </p:spPr>
        <p:txBody>
          <a:bodyPr wrap="square">
            <a:spAutoFit/>
          </a:bodyPr>
          <a:lstStyle/>
          <a:p>
            <a:pPr algn="ctr"/>
            <a:r>
              <a:rPr sz="2200" b="1" i="0">
                <a:solidFill>
                  <a:srgbClr val="2D2D2D"/>
                </a:solidFill>
              </a:rPr>
              <a:t>→</a:t>
            </a:r>
          </a:p>
        </p:txBody>
      </p:sp>
      <p:sp>
        <p:nvSpPr>
          <p:cNvPr id="15" name="Rectangle 14"/>
          <p:cNvSpPr/>
          <p:nvPr/>
        </p:nvSpPr>
        <p:spPr>
          <a:xfrm>
            <a:off x="8869680" y="1920240"/>
            <a:ext cx="2468880" cy="1371600"/>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961119" y="2011680"/>
            <a:ext cx="2286000" cy="1188720"/>
          </a:xfrm>
          <a:prstGeom prst="rect">
            <a:avLst/>
          </a:prstGeom>
          <a:noFill/>
        </p:spPr>
        <p:txBody>
          <a:bodyPr wrap="square">
            <a:spAutoFit/>
          </a:bodyPr>
          <a:lstStyle/>
          <a:p>
            <a:pPr algn="ctr"/>
            <a:r>
              <a:rPr sz="1400" b="1" i="0">
                <a:solidFill>
                  <a:srgbClr val="FFFFFF"/>
                </a:solidFill>
              </a:rPr>
              <a:t>Raw graph
(no ontology
no entity resolution)</a:t>
            </a:r>
          </a:p>
        </p:txBody>
      </p:sp>
      <p:sp>
        <p:nvSpPr>
          <p:cNvPr id="17" name="TextBox 16"/>
          <p:cNvSpPr txBox="1"/>
          <p:nvPr/>
        </p:nvSpPr>
        <p:spPr>
          <a:xfrm>
            <a:off x="365760" y="3520440"/>
            <a:ext cx="10972800" cy="365760"/>
          </a:xfrm>
          <a:prstGeom prst="rect">
            <a:avLst/>
          </a:prstGeom>
          <a:noFill/>
        </p:spPr>
        <p:txBody>
          <a:bodyPr wrap="square">
            <a:spAutoFit/>
          </a:bodyPr>
          <a:lstStyle/>
          <a:p>
            <a:pPr algn="l"/>
            <a:r>
              <a:rPr sz="1500" b="1" i="0">
                <a:solidFill>
                  <a:srgbClr val="C0392B"/>
                </a:solidFill>
              </a:rPr>
              <a:t>Known weaknesses (what our novel pipeline fixes):</a:t>
            </a:r>
          </a:p>
        </p:txBody>
      </p:sp>
      <p:sp>
        <p:nvSpPr>
          <p:cNvPr id="18" name="TextBox 17"/>
          <p:cNvSpPr txBox="1"/>
          <p:nvPr/>
        </p:nvSpPr>
        <p:spPr>
          <a:xfrm>
            <a:off x="365760" y="3931920"/>
            <a:ext cx="11430000" cy="384048"/>
          </a:xfrm>
          <a:prstGeom prst="rect">
            <a:avLst/>
          </a:prstGeom>
          <a:noFill/>
        </p:spPr>
        <p:txBody>
          <a:bodyPr wrap="square">
            <a:spAutoFit/>
          </a:bodyPr>
          <a:lstStyle/>
          <a:p>
            <a:pPr algn="l"/>
            <a:r>
              <a:rPr sz="1400" b="0" i="0">
                <a:solidFill>
                  <a:srgbClr val="2D2D2D"/>
                </a:solidFill>
              </a:rPr>
              <a:t>  ✗  20–30% entity duplication   e.g.  'Policy 5123' and 'policy #5123' → two separate nodes</a:t>
            </a:r>
          </a:p>
        </p:txBody>
      </p:sp>
      <p:sp>
        <p:nvSpPr>
          <p:cNvPr id="19" name="TextBox 18"/>
          <p:cNvSpPr txBox="1"/>
          <p:nvPr/>
        </p:nvSpPr>
        <p:spPr>
          <a:xfrm>
            <a:off x="365760" y="4334256"/>
            <a:ext cx="11430000" cy="384048"/>
          </a:xfrm>
          <a:prstGeom prst="rect">
            <a:avLst/>
          </a:prstGeom>
          <a:noFill/>
        </p:spPr>
        <p:txBody>
          <a:bodyPr wrap="square">
            <a:spAutoFit/>
          </a:bodyPr>
          <a:lstStyle/>
          <a:p>
            <a:pPr algn="l"/>
            <a:r>
              <a:rPr sz="1400" b="0" i="0">
                <a:solidFill>
                  <a:srgbClr val="2D2D2D"/>
                </a:solidFill>
              </a:rPr>
              <a:t>  ✗  Type inconsistency   e.g.  'Insurance', 'Insurance_policy', 'Insurance coverage' → same concept, 3 labels</a:t>
            </a:r>
          </a:p>
        </p:txBody>
      </p:sp>
      <p:sp>
        <p:nvSpPr>
          <p:cNvPr id="20" name="TextBox 19"/>
          <p:cNvSpPr txBox="1"/>
          <p:nvPr/>
        </p:nvSpPr>
        <p:spPr>
          <a:xfrm>
            <a:off x="365760" y="4736592"/>
            <a:ext cx="11430000" cy="384048"/>
          </a:xfrm>
          <a:prstGeom prst="rect">
            <a:avLst/>
          </a:prstGeom>
          <a:noFill/>
        </p:spPr>
        <p:txBody>
          <a:bodyPr wrap="square">
            <a:spAutoFit/>
          </a:bodyPr>
          <a:lstStyle/>
          <a:p>
            <a:pPr algn="l"/>
            <a:r>
              <a:rPr sz="1400" b="0" i="0">
                <a:solidFill>
                  <a:srgbClr val="2D2D2D"/>
                </a:solidFill>
              </a:rPr>
              <a:t>  ✗  No ontology hierarchy   —   flat nodes, no SUBCLASS_OF edges, no class clustering</a:t>
            </a:r>
          </a:p>
        </p:txBody>
      </p:sp>
      <p:sp>
        <p:nvSpPr>
          <p:cNvPr id="21" name="TextBox 20"/>
          <p:cNvSpPr txBox="1"/>
          <p:nvPr/>
        </p:nvSpPr>
        <p:spPr>
          <a:xfrm>
            <a:off x="365760" y="5138928"/>
            <a:ext cx="11430000" cy="384048"/>
          </a:xfrm>
          <a:prstGeom prst="rect">
            <a:avLst/>
          </a:prstGeom>
          <a:noFill/>
        </p:spPr>
        <p:txBody>
          <a:bodyPr wrap="square">
            <a:spAutoFit/>
          </a:bodyPr>
          <a:lstStyle/>
          <a:p>
            <a:pPr algn="l"/>
            <a:r>
              <a:rPr sz="1400" b="0" i="0">
                <a:solidFill>
                  <a:srgbClr val="2D2D2D"/>
                </a:solidFill>
              </a:rPr>
              <a:t>  ✗  No cross-domain transfer   —   starts from scratch for every new LOB</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97280"/>
          </a:xfrm>
          <a:prstGeom prst="rect">
            <a:avLst/>
          </a:prstGeom>
          <a:solidFill>
            <a:srgbClr val="002B7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137160"/>
            <a:ext cx="11430000" cy="914400"/>
          </a:xfrm>
          <a:prstGeom prst="rect">
            <a:avLst/>
          </a:prstGeom>
          <a:noFill/>
        </p:spPr>
        <p:txBody>
          <a:bodyPr wrap="square">
            <a:spAutoFit/>
          </a:bodyPr>
          <a:lstStyle/>
          <a:p>
            <a:pPr algn="l"/>
            <a:r>
              <a:rPr sz="2800" b="1" i="0">
                <a:solidFill>
                  <a:srgbClr val="FFFFFF"/>
                </a:solidFill>
              </a:rPr>
              <a:t>Concrete Example 1: Chunking — The Problem</a:t>
            </a:r>
          </a:p>
        </p:txBody>
      </p:sp>
      <p:sp>
        <p:nvSpPr>
          <p:cNvPr id="4" name="Rectangle 3"/>
          <p:cNvSpPr/>
          <p:nvPr/>
        </p:nvSpPr>
        <p:spPr>
          <a:xfrm>
            <a:off x="0" y="1097280"/>
            <a:ext cx="12188952" cy="54864"/>
          </a:xfrm>
          <a:prstGeom prst="rect">
            <a:avLst/>
          </a:prstGeom>
          <a:solidFill>
            <a:srgbClr val="F2A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82880" y="1298448"/>
            <a:ext cx="5577840" cy="347472"/>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28600" y="1335024"/>
            <a:ext cx="5486400" cy="292608"/>
          </a:xfrm>
          <a:prstGeom prst="rect">
            <a:avLst/>
          </a:prstGeom>
          <a:noFill/>
        </p:spPr>
        <p:txBody>
          <a:bodyPr wrap="square">
            <a:spAutoFit/>
          </a:bodyPr>
          <a:lstStyle/>
          <a:p>
            <a:pPr algn="l"/>
            <a:r>
              <a:rPr sz="1300" b="1" i="0">
                <a:solidFill>
                  <a:srgbClr val="FFFFFF"/>
                </a:solidFill>
              </a:rPr>
              <a:t>✗  BASELINE  — Fixed 512-token chunk (chunk 10, page 5)</a:t>
            </a:r>
          </a:p>
        </p:txBody>
      </p:sp>
      <p:sp>
        <p:nvSpPr>
          <p:cNvPr id="7" name="Rectangle 6"/>
          <p:cNvSpPr/>
          <p:nvPr/>
        </p:nvSpPr>
        <p:spPr>
          <a:xfrm>
            <a:off x="182880" y="1664208"/>
            <a:ext cx="5577840" cy="3200400"/>
          </a:xfrm>
          <a:prstGeom prst="rect">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74320" y="1755648"/>
            <a:ext cx="5394959" cy="3063240"/>
          </a:xfrm>
          <a:prstGeom prst="rect">
            <a:avLst/>
          </a:prstGeom>
          <a:noFill/>
        </p:spPr>
        <p:txBody>
          <a:bodyPr wrap="square">
            <a:spAutoFit/>
          </a:bodyPr>
          <a:lstStyle/>
          <a:p>
            <a:r>
              <a:rPr sz="1050">
                <a:solidFill>
                  <a:srgbClr val="D4D4D4"/>
                </a:solidFill>
                <a:latin typeface="Courier New"/>
              </a:rPr>
              <a:t>...time of the loss:
a. By over-the-top or frame ties to ground
   anchors; or
b. In accordance with the manufacturer's
   specifications; or
c. In compliance with the community's
   floodplain management requirements
   unless it has been continuously insured
   by the NFIP at the same described
   location since September 30, 1982.
8. Items of property below the lowest
   elevated floor of an elevated post-FIRM...</a:t>
            </a:r>
          </a:p>
        </p:txBody>
      </p:sp>
      <p:sp>
        <p:nvSpPr>
          <p:cNvPr id="9" name="TextBox 8"/>
          <p:cNvSpPr txBox="1"/>
          <p:nvPr/>
        </p:nvSpPr>
        <p:spPr>
          <a:xfrm>
            <a:off x="182880" y="4892040"/>
            <a:ext cx="5577840" cy="685800"/>
          </a:xfrm>
          <a:prstGeom prst="rect">
            <a:avLst/>
          </a:prstGeom>
          <a:noFill/>
        </p:spPr>
        <p:txBody>
          <a:bodyPr wrap="square">
            <a:spAutoFit/>
          </a:bodyPr>
          <a:lstStyle/>
          <a:p>
            <a:pPr algn="l"/>
            <a:r>
              <a:rPr sz="1300" b="1" i="0">
                <a:solidFill>
                  <a:srgbClr val="C0392B"/>
                </a:solidFill>
              </a:rPr>
              <a:t>⚠  Mid-sentence start — no context about WHAT rule this applies to.
    LLM cannot extract meaningful triples.</a:t>
            </a:r>
          </a:p>
        </p:txBody>
      </p:sp>
      <p:sp>
        <p:nvSpPr>
          <p:cNvPr id="10" name="Rectangle 9"/>
          <p:cNvSpPr/>
          <p:nvPr/>
        </p:nvSpPr>
        <p:spPr>
          <a:xfrm>
            <a:off x="6309360" y="1298448"/>
            <a:ext cx="5577840" cy="347472"/>
          </a:xfrm>
          <a:prstGeom prst="rect">
            <a:avLst/>
          </a:prstGeom>
          <a:solidFill>
            <a:srgbClr val="1B7F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55080" y="1335024"/>
            <a:ext cx="5486400" cy="292608"/>
          </a:xfrm>
          <a:prstGeom prst="rect">
            <a:avLst/>
          </a:prstGeom>
          <a:noFill/>
        </p:spPr>
        <p:txBody>
          <a:bodyPr wrap="square">
            <a:spAutoFit/>
          </a:bodyPr>
          <a:lstStyle/>
          <a:p>
            <a:pPr algn="l"/>
            <a:r>
              <a:rPr sz="1300" b="1" i="0">
                <a:solidFill>
                  <a:srgbClr val="FFFFFF"/>
                </a:solidFill>
              </a:rPr>
              <a:t>✓  ZONE 1  — Section-aware chunk (IV. PROPERTY NOT INSURED)</a:t>
            </a:r>
          </a:p>
        </p:txBody>
      </p:sp>
      <p:sp>
        <p:nvSpPr>
          <p:cNvPr id="12" name="Rectangle 11"/>
          <p:cNvSpPr/>
          <p:nvPr/>
        </p:nvSpPr>
        <p:spPr>
          <a:xfrm>
            <a:off x="6309360" y="1664208"/>
            <a:ext cx="5577840" cy="3200400"/>
          </a:xfrm>
          <a:prstGeom prst="rect">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0" y="1755648"/>
            <a:ext cx="5394959" cy="3063240"/>
          </a:xfrm>
          <a:prstGeom prst="rect">
            <a:avLst/>
          </a:prstGeom>
          <a:noFill/>
        </p:spPr>
        <p:txBody>
          <a:bodyPr wrap="square">
            <a:spAutoFit/>
          </a:bodyPr>
          <a:lstStyle/>
          <a:p>
            <a:r>
              <a:rPr sz="1050">
                <a:solidFill>
                  <a:srgbClr val="D4D4D4"/>
                </a:solidFill>
                <a:latin typeface="Courier New"/>
              </a:rPr>
              <a:t>IV. PROPERTY NOT INSURED
We do not insure any of the following
property:
1. Personal property not inside the
   fully enclosed building.
2. A building...located entirely in, on,
   or over water or seaward of mean
   high tide if constructed after
   September 30, 1982.
3. Open structures, including a building
   used as a boathouse or any structure...</a:t>
            </a:r>
          </a:p>
        </p:txBody>
      </p:sp>
      <p:sp>
        <p:nvSpPr>
          <p:cNvPr id="14" name="TextBox 13"/>
          <p:cNvSpPr txBox="1"/>
          <p:nvPr/>
        </p:nvSpPr>
        <p:spPr>
          <a:xfrm>
            <a:off x="6309360" y="4892040"/>
            <a:ext cx="5577840" cy="685800"/>
          </a:xfrm>
          <a:prstGeom prst="rect">
            <a:avLst/>
          </a:prstGeom>
          <a:noFill/>
        </p:spPr>
        <p:txBody>
          <a:bodyPr wrap="square">
            <a:spAutoFit/>
          </a:bodyPr>
          <a:lstStyle/>
          <a:p>
            <a:pPr algn="l"/>
            <a:r>
              <a:rPr sz="1300" b="1" i="0">
                <a:solidFill>
                  <a:srgbClr val="1B7F3B"/>
                </a:solidFill>
              </a:rPr>
              <a:t>✓  Complete section — LLM knows exactly what 'NOT INSURED' means
    and can extract (NFIP Policy, NOT_INSURED, Personal property outside building).</a:t>
            </a:r>
          </a:p>
        </p:txBody>
      </p:sp>
      <p:sp>
        <p:nvSpPr>
          <p:cNvPr id="15" name="TextBox 14"/>
          <p:cNvSpPr txBox="1"/>
          <p:nvPr/>
        </p:nvSpPr>
        <p:spPr>
          <a:xfrm>
            <a:off x="274320" y="5715000"/>
            <a:ext cx="11430000" cy="411480"/>
          </a:xfrm>
          <a:prstGeom prst="rect">
            <a:avLst/>
          </a:prstGeom>
          <a:noFill/>
        </p:spPr>
        <p:txBody>
          <a:bodyPr wrap="square">
            <a:spAutoFit/>
          </a:bodyPr>
          <a:lstStyle/>
          <a:p>
            <a:pPr algn="l"/>
            <a:r>
              <a:rPr sz="1300" b="0" i="1">
                <a:solidFill>
                  <a:srgbClr val="555555"/>
                </a:solidFill>
              </a:rPr>
              <a:t>Section hierarchy metadata:  ['IV. PROPERTY NOT INSURED']  |  605 tokens  |  page 11</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97280"/>
          </a:xfrm>
          <a:prstGeom prst="rect">
            <a:avLst/>
          </a:prstGeom>
          <a:solidFill>
            <a:srgbClr val="002B7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137160"/>
            <a:ext cx="11430000" cy="914400"/>
          </a:xfrm>
          <a:prstGeom prst="rect">
            <a:avLst/>
          </a:prstGeom>
          <a:noFill/>
        </p:spPr>
        <p:txBody>
          <a:bodyPr wrap="square">
            <a:spAutoFit/>
          </a:bodyPr>
          <a:lstStyle/>
          <a:p>
            <a:pPr algn="l"/>
            <a:r>
              <a:rPr sz="2800" b="1" i="0">
                <a:solidFill>
                  <a:srgbClr val="FFFFFF"/>
                </a:solidFill>
              </a:rPr>
              <a:t>Concrete Example 2: Extraction — Type Inconsistency</a:t>
            </a:r>
          </a:p>
        </p:txBody>
      </p:sp>
      <p:sp>
        <p:nvSpPr>
          <p:cNvPr id="4" name="Rectangle 3"/>
          <p:cNvSpPr/>
          <p:nvPr/>
        </p:nvSpPr>
        <p:spPr>
          <a:xfrm>
            <a:off x="0" y="1097280"/>
            <a:ext cx="12188952" cy="54864"/>
          </a:xfrm>
          <a:prstGeom prst="rect">
            <a:avLst/>
          </a:prstGeom>
          <a:solidFill>
            <a:srgbClr val="F2A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74320" y="1261872"/>
            <a:ext cx="11430000" cy="457200"/>
          </a:xfrm>
          <a:prstGeom prst="rect">
            <a:avLst/>
          </a:prstGeom>
          <a:noFill/>
        </p:spPr>
        <p:txBody>
          <a:bodyPr wrap="square">
            <a:spAutoFit/>
          </a:bodyPr>
          <a:lstStyle/>
          <a:p>
            <a:pPr algn="l"/>
            <a:r>
              <a:rPr sz="1500" b="0" i="0">
                <a:solidFill>
                  <a:srgbClr val="2D2D2D"/>
                </a:solidFill>
              </a:rPr>
              <a:t>Input: "Policy" concept appears across 5 different section chunks  →  LLMGraphTransformer produces 5 different node labels:</a:t>
            </a:r>
          </a:p>
        </p:txBody>
      </p:sp>
      <p:sp>
        <p:nvSpPr>
          <p:cNvPr id="6" name="Rectangle 5"/>
          <p:cNvSpPr/>
          <p:nvPr/>
        </p:nvSpPr>
        <p:spPr>
          <a:xfrm>
            <a:off x="548640" y="1828800"/>
            <a:ext cx="2011680" cy="594360"/>
          </a:xfrm>
          <a:prstGeom prst="rect">
            <a:avLst/>
          </a:prstGeom>
          <a:solidFill>
            <a:srgbClr val="002B7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1901952"/>
            <a:ext cx="1828800" cy="457200"/>
          </a:xfrm>
          <a:prstGeom prst="rect">
            <a:avLst/>
          </a:prstGeom>
          <a:noFill/>
        </p:spPr>
        <p:txBody>
          <a:bodyPr wrap="square">
            <a:spAutoFit/>
          </a:bodyPr>
          <a:lstStyle/>
          <a:p>
            <a:pPr algn="ctr"/>
            <a:r>
              <a:rPr sz="1400" b="1" i="0">
                <a:solidFill>
                  <a:srgbClr val="FFFFFF"/>
                </a:solidFill>
              </a:rPr>
              <a:t>:Policy</a:t>
            </a:r>
          </a:p>
        </p:txBody>
      </p:sp>
      <p:sp>
        <p:nvSpPr>
          <p:cNvPr id="8" name="TextBox 7"/>
          <p:cNvSpPr txBox="1"/>
          <p:nvPr/>
        </p:nvSpPr>
        <p:spPr>
          <a:xfrm>
            <a:off x="2606040" y="1965960"/>
            <a:ext cx="274320" cy="365760"/>
          </a:xfrm>
          <a:prstGeom prst="rect">
            <a:avLst/>
          </a:prstGeom>
          <a:noFill/>
        </p:spPr>
        <p:txBody>
          <a:bodyPr wrap="square">
            <a:spAutoFit/>
          </a:bodyPr>
          <a:lstStyle/>
          <a:p>
            <a:pPr algn="ctr"/>
            <a:r>
              <a:rPr sz="2000" b="1" i="0">
                <a:solidFill>
                  <a:srgbClr val="C0392B"/>
                </a:solidFill>
              </a:rPr>
              <a:t>≠</a:t>
            </a:r>
          </a:p>
        </p:txBody>
      </p:sp>
      <p:sp>
        <p:nvSpPr>
          <p:cNvPr id="9" name="Rectangle 8"/>
          <p:cNvSpPr/>
          <p:nvPr/>
        </p:nvSpPr>
        <p:spPr>
          <a:xfrm>
            <a:off x="2834640" y="1828800"/>
            <a:ext cx="2011680" cy="59436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926080" y="1901952"/>
            <a:ext cx="1828800" cy="457200"/>
          </a:xfrm>
          <a:prstGeom prst="rect">
            <a:avLst/>
          </a:prstGeom>
          <a:noFill/>
        </p:spPr>
        <p:txBody>
          <a:bodyPr wrap="square">
            <a:spAutoFit/>
          </a:bodyPr>
          <a:lstStyle/>
          <a:p>
            <a:pPr algn="ctr"/>
            <a:r>
              <a:rPr sz="1400" b="1" i="0">
                <a:solidFill>
                  <a:srgbClr val="FFFFFF"/>
                </a:solidFill>
              </a:rPr>
              <a:t>:Policy action</a:t>
            </a:r>
          </a:p>
        </p:txBody>
      </p:sp>
      <p:sp>
        <p:nvSpPr>
          <p:cNvPr id="11" name="TextBox 10"/>
          <p:cNvSpPr txBox="1"/>
          <p:nvPr/>
        </p:nvSpPr>
        <p:spPr>
          <a:xfrm>
            <a:off x="4892040" y="1965960"/>
            <a:ext cx="274320" cy="365760"/>
          </a:xfrm>
          <a:prstGeom prst="rect">
            <a:avLst/>
          </a:prstGeom>
          <a:noFill/>
        </p:spPr>
        <p:txBody>
          <a:bodyPr wrap="square">
            <a:spAutoFit/>
          </a:bodyPr>
          <a:lstStyle/>
          <a:p>
            <a:pPr algn="ctr"/>
            <a:r>
              <a:rPr sz="2000" b="1" i="0">
                <a:solidFill>
                  <a:srgbClr val="C0392B"/>
                </a:solidFill>
              </a:rPr>
              <a:t>≠</a:t>
            </a:r>
          </a:p>
        </p:txBody>
      </p:sp>
      <p:sp>
        <p:nvSpPr>
          <p:cNvPr id="12" name="Rectangle 11"/>
          <p:cNvSpPr/>
          <p:nvPr/>
        </p:nvSpPr>
        <p:spPr>
          <a:xfrm>
            <a:off x="5120640" y="1828800"/>
            <a:ext cx="2011680" cy="594360"/>
          </a:xfrm>
          <a:prstGeom prst="rect">
            <a:avLst/>
          </a:prstGeom>
          <a:solidFill>
            <a:srgbClr val="1A5C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212079" y="1901952"/>
            <a:ext cx="1828800" cy="457200"/>
          </a:xfrm>
          <a:prstGeom prst="rect">
            <a:avLst/>
          </a:prstGeom>
          <a:noFill/>
        </p:spPr>
        <p:txBody>
          <a:bodyPr wrap="square">
            <a:spAutoFit/>
          </a:bodyPr>
          <a:lstStyle/>
          <a:p>
            <a:pPr algn="ctr"/>
            <a:r>
              <a:rPr sz="1400" b="1" i="0">
                <a:solidFill>
                  <a:srgbClr val="FFFFFF"/>
                </a:solidFill>
              </a:rPr>
              <a:t>:Policy feature</a:t>
            </a:r>
          </a:p>
        </p:txBody>
      </p:sp>
      <p:sp>
        <p:nvSpPr>
          <p:cNvPr id="14" name="TextBox 13"/>
          <p:cNvSpPr txBox="1"/>
          <p:nvPr/>
        </p:nvSpPr>
        <p:spPr>
          <a:xfrm>
            <a:off x="7178040" y="1965960"/>
            <a:ext cx="274320" cy="365760"/>
          </a:xfrm>
          <a:prstGeom prst="rect">
            <a:avLst/>
          </a:prstGeom>
          <a:noFill/>
        </p:spPr>
        <p:txBody>
          <a:bodyPr wrap="square">
            <a:spAutoFit/>
          </a:bodyPr>
          <a:lstStyle/>
          <a:p>
            <a:pPr algn="ctr"/>
            <a:r>
              <a:rPr sz="2000" b="1" i="0">
                <a:solidFill>
                  <a:srgbClr val="C0392B"/>
                </a:solidFill>
              </a:rPr>
              <a:t>≠</a:t>
            </a:r>
          </a:p>
        </p:txBody>
      </p:sp>
      <p:sp>
        <p:nvSpPr>
          <p:cNvPr id="15" name="Rectangle 14"/>
          <p:cNvSpPr/>
          <p:nvPr/>
        </p:nvSpPr>
        <p:spPr>
          <a:xfrm>
            <a:off x="7406640" y="1828800"/>
            <a:ext cx="2011680" cy="594360"/>
          </a:xfrm>
          <a:prstGeom prst="rect">
            <a:avLst/>
          </a:prstGeom>
          <a:solidFill>
            <a:srgbClr val="154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498079" y="1901952"/>
            <a:ext cx="1828800" cy="457200"/>
          </a:xfrm>
          <a:prstGeom prst="rect">
            <a:avLst/>
          </a:prstGeom>
          <a:noFill/>
        </p:spPr>
        <p:txBody>
          <a:bodyPr wrap="square">
            <a:spAutoFit/>
          </a:bodyPr>
          <a:lstStyle/>
          <a:p>
            <a:pPr algn="ctr"/>
            <a:r>
              <a:rPr sz="1400" b="1" i="0">
                <a:solidFill>
                  <a:srgbClr val="FFFFFF"/>
                </a:solidFill>
              </a:rPr>
              <a:t>:Policy type</a:t>
            </a:r>
          </a:p>
        </p:txBody>
      </p:sp>
      <p:sp>
        <p:nvSpPr>
          <p:cNvPr id="17" name="TextBox 16"/>
          <p:cNvSpPr txBox="1"/>
          <p:nvPr/>
        </p:nvSpPr>
        <p:spPr>
          <a:xfrm>
            <a:off x="9464040" y="1965960"/>
            <a:ext cx="274320" cy="365760"/>
          </a:xfrm>
          <a:prstGeom prst="rect">
            <a:avLst/>
          </a:prstGeom>
          <a:noFill/>
        </p:spPr>
        <p:txBody>
          <a:bodyPr wrap="square">
            <a:spAutoFit/>
          </a:bodyPr>
          <a:lstStyle/>
          <a:p>
            <a:pPr algn="ctr"/>
            <a:r>
              <a:rPr sz="2000" b="1" i="0">
                <a:solidFill>
                  <a:srgbClr val="C0392B"/>
                </a:solidFill>
              </a:rPr>
              <a:t>≠</a:t>
            </a:r>
          </a:p>
        </p:txBody>
      </p:sp>
      <p:sp>
        <p:nvSpPr>
          <p:cNvPr id="18" name="Rectangle 17"/>
          <p:cNvSpPr/>
          <p:nvPr/>
        </p:nvSpPr>
        <p:spPr>
          <a:xfrm>
            <a:off x="9692640" y="1828800"/>
            <a:ext cx="2011680" cy="594360"/>
          </a:xfrm>
          <a:prstGeom prst="rect">
            <a:avLst/>
          </a:prstGeom>
          <a:solidFill>
            <a:srgbClr val="0D3F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784080" y="1901952"/>
            <a:ext cx="1828800" cy="457200"/>
          </a:xfrm>
          <a:prstGeom prst="rect">
            <a:avLst/>
          </a:prstGeom>
          <a:noFill/>
        </p:spPr>
        <p:txBody>
          <a:bodyPr wrap="square">
            <a:spAutoFit/>
          </a:bodyPr>
          <a:lstStyle/>
          <a:p>
            <a:pPr algn="ctr"/>
            <a:r>
              <a:rPr sz="1400" b="1" i="0">
                <a:solidFill>
                  <a:srgbClr val="FFFFFF"/>
                </a:solidFill>
              </a:rPr>
              <a:t>:Policy clause</a:t>
            </a:r>
          </a:p>
        </p:txBody>
      </p:sp>
      <p:sp>
        <p:nvSpPr>
          <p:cNvPr id="20" name="TextBox 19"/>
          <p:cNvSpPr txBox="1"/>
          <p:nvPr/>
        </p:nvSpPr>
        <p:spPr>
          <a:xfrm>
            <a:off x="274320" y="2560320"/>
            <a:ext cx="11430000" cy="411480"/>
          </a:xfrm>
          <a:prstGeom prst="rect">
            <a:avLst/>
          </a:prstGeom>
          <a:noFill/>
        </p:spPr>
        <p:txBody>
          <a:bodyPr wrap="square">
            <a:spAutoFit/>
          </a:bodyPr>
          <a:lstStyle/>
          <a:p>
            <a:pPr algn="l"/>
            <a:r>
              <a:rPr sz="1500" b="1" i="0">
                <a:solidFill>
                  <a:srgbClr val="C0392B"/>
                </a:solidFill>
              </a:rPr>
              <a:t>Same real-world concept.  Different chunk → different label.  Graph cannot answer "What are the policy rules?"</a:t>
            </a:r>
          </a:p>
        </p:txBody>
      </p:sp>
      <p:sp>
        <p:nvSpPr>
          <p:cNvPr id="21" name="Rectangle 20"/>
          <p:cNvSpPr/>
          <p:nvPr/>
        </p:nvSpPr>
        <p:spPr>
          <a:xfrm>
            <a:off x="1828800" y="3154680"/>
            <a:ext cx="8229600" cy="54864"/>
          </a:xfrm>
          <a:prstGeom prst="rect">
            <a:avLst/>
          </a:prstGeom>
          <a:solidFill>
            <a:srgbClr val="F2A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200400" y="3291840"/>
            <a:ext cx="5486400" cy="365760"/>
          </a:xfrm>
          <a:prstGeom prst="rect">
            <a:avLst/>
          </a:prstGeom>
          <a:noFill/>
        </p:spPr>
        <p:txBody>
          <a:bodyPr wrap="square">
            <a:spAutoFit/>
          </a:bodyPr>
          <a:lstStyle/>
          <a:p>
            <a:pPr algn="ctr"/>
            <a:r>
              <a:rPr sz="1700" b="1" i="0">
                <a:solidFill>
                  <a:srgbClr val="002B7F"/>
                </a:solidFill>
              </a:rPr>
              <a:t>Our Zone 3 Fix: Leiden Clustering</a:t>
            </a:r>
          </a:p>
        </p:txBody>
      </p:sp>
      <p:sp>
        <p:nvSpPr>
          <p:cNvPr id="23" name="Rectangle 22"/>
          <p:cNvSpPr/>
          <p:nvPr/>
        </p:nvSpPr>
        <p:spPr>
          <a:xfrm>
            <a:off x="274320" y="3749039"/>
            <a:ext cx="11521440" cy="2331720"/>
          </a:xfrm>
          <a:prstGeom prst="rect">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65760" y="3840479"/>
            <a:ext cx="11338560" cy="2194560"/>
          </a:xfrm>
          <a:prstGeom prst="rect">
            <a:avLst/>
          </a:prstGeom>
          <a:noFill/>
        </p:spPr>
        <p:txBody>
          <a:bodyPr wrap="square">
            <a:spAutoFit/>
          </a:bodyPr>
          <a:lstStyle/>
          <a:p>
            <a:r>
              <a:rPr sz="1100">
                <a:solidFill>
                  <a:srgbClr val="D4D4D4"/>
                </a:solidFill>
                <a:latin typeface="Courier New"/>
              </a:rPr>
              <a:t># Step 1: Compute type-similarity graph
w(Policy, Policy_action) = 0.5 * sem_sim + 0.3 * cooccur + 0.2 * rel_sim
                         = 0.5 * 0.91   + 0.3 * 0.72   + 0.2 * 0.68
                         = 0.455 + 0.216 + 0.136  =  0.807  → SAME CLUSTER
# Step 2: Leiden community detection groups all 5 → one cluster
C_policy = { Policy, Policy_action, Policy_feature, Policy_type, Policy_clause }
# Step 3: LLM names the abstract class
&gt; "Given these types, generate an abstract class name: InsurancePolicy"</a:t>
            </a:r>
          </a:p>
        </p:txBody>
      </p:sp>
      <p:sp>
        <p:nvSpPr>
          <p:cNvPr id="25" name="TextBox 24"/>
          <p:cNvSpPr txBox="1"/>
          <p:nvPr/>
        </p:nvSpPr>
        <p:spPr>
          <a:xfrm>
            <a:off x="274320" y="6199632"/>
            <a:ext cx="11430000" cy="411480"/>
          </a:xfrm>
          <a:prstGeom prst="rect">
            <a:avLst/>
          </a:prstGeom>
          <a:noFill/>
        </p:spPr>
        <p:txBody>
          <a:bodyPr wrap="square">
            <a:spAutoFit/>
          </a:bodyPr>
          <a:lstStyle/>
          <a:p>
            <a:pPr algn="l"/>
            <a:r>
              <a:rPr sz="1400" b="1" i="0">
                <a:solidFill>
                  <a:srgbClr val="1B7F3B"/>
                </a:solidFill>
              </a:rPr>
              <a:t>Result: one canonical :InsurancePolicy class.  All instances unified.  Graph queries now work.</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97280"/>
          </a:xfrm>
          <a:prstGeom prst="rect">
            <a:avLst/>
          </a:prstGeom>
          <a:solidFill>
            <a:srgbClr val="002B7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137160"/>
            <a:ext cx="11430000" cy="914400"/>
          </a:xfrm>
          <a:prstGeom prst="rect">
            <a:avLst/>
          </a:prstGeom>
          <a:noFill/>
        </p:spPr>
        <p:txBody>
          <a:bodyPr wrap="square">
            <a:spAutoFit/>
          </a:bodyPr>
          <a:lstStyle/>
          <a:p>
            <a:pPr algn="l"/>
            <a:r>
              <a:rPr sz="3000" b="1" i="0">
                <a:solidFill>
                  <a:srgbClr val="FFFFFF"/>
                </a:solidFill>
              </a:rPr>
              <a:t>Evaluation Method &amp; Metrics</a:t>
            </a:r>
          </a:p>
        </p:txBody>
      </p:sp>
      <p:sp>
        <p:nvSpPr>
          <p:cNvPr id="4" name="Rectangle 3"/>
          <p:cNvSpPr/>
          <p:nvPr/>
        </p:nvSpPr>
        <p:spPr>
          <a:xfrm>
            <a:off x="0" y="1097280"/>
            <a:ext cx="12188952" cy="54864"/>
          </a:xfrm>
          <a:prstGeom prst="rect">
            <a:avLst/>
          </a:prstGeom>
          <a:solidFill>
            <a:srgbClr val="F2A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82880" y="1298448"/>
            <a:ext cx="5303520" cy="4846320"/>
          </a:xfrm>
          <a:prstGeom prst="rect">
            <a:avLst/>
          </a:prstGeom>
          <a:solidFill>
            <a:srgbClr val="F4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20040" y="1371600"/>
            <a:ext cx="5029200" cy="365760"/>
          </a:xfrm>
          <a:prstGeom prst="rect">
            <a:avLst/>
          </a:prstGeom>
          <a:noFill/>
        </p:spPr>
        <p:txBody>
          <a:bodyPr wrap="square">
            <a:spAutoFit/>
          </a:bodyPr>
          <a:lstStyle/>
          <a:p>
            <a:pPr algn="l"/>
            <a:r>
              <a:rPr sz="1700" b="1" i="0">
                <a:solidFill>
                  <a:srgbClr val="002B7F"/>
                </a:solidFill>
              </a:rPr>
              <a:t>Automatic Metrics</a:t>
            </a:r>
          </a:p>
        </p:txBody>
      </p:sp>
      <p:sp>
        <p:nvSpPr>
          <p:cNvPr id="7" name="TextBox 6"/>
          <p:cNvSpPr txBox="1"/>
          <p:nvPr/>
        </p:nvSpPr>
        <p:spPr>
          <a:xfrm>
            <a:off x="320040" y="1828800"/>
            <a:ext cx="5029200" cy="274320"/>
          </a:xfrm>
          <a:prstGeom prst="rect">
            <a:avLst/>
          </a:prstGeom>
          <a:noFill/>
        </p:spPr>
        <p:txBody>
          <a:bodyPr wrap="square">
            <a:spAutoFit/>
          </a:bodyPr>
          <a:lstStyle/>
          <a:p>
            <a:pPr algn="l"/>
            <a:r>
              <a:rPr sz="1400" b="1" i="0">
                <a:solidFill>
                  <a:srgbClr val="2D2D2D"/>
                </a:solidFill>
              </a:rPr>
              <a:t>  •  Query Accuracy (20 tasks)</a:t>
            </a:r>
          </a:p>
        </p:txBody>
      </p:sp>
      <p:sp>
        <p:nvSpPr>
          <p:cNvPr id="8" name="TextBox 7"/>
          <p:cNvSpPr txBox="1"/>
          <p:nvPr/>
        </p:nvSpPr>
        <p:spPr>
          <a:xfrm>
            <a:off x="320040" y="2084832"/>
            <a:ext cx="5029200" cy="548640"/>
          </a:xfrm>
          <a:prstGeom prst="rect">
            <a:avLst/>
          </a:prstGeom>
          <a:noFill/>
        </p:spPr>
        <p:txBody>
          <a:bodyPr wrap="square">
            <a:spAutoFit/>
          </a:bodyPr>
          <a:lstStyle/>
          <a:p>
            <a:pPr algn="l"/>
            <a:r>
              <a:rPr sz="1200" b="0" i="0">
                <a:solidFill>
                  <a:srgbClr val="555555"/>
                </a:solidFill>
              </a:rPr>
              <a:t>       % of policy questions answerable
via Cypher queries  |  target: &gt;75%</a:t>
            </a:r>
          </a:p>
        </p:txBody>
      </p:sp>
      <p:sp>
        <p:nvSpPr>
          <p:cNvPr id="9" name="TextBox 8"/>
          <p:cNvSpPr txBox="1"/>
          <p:nvPr/>
        </p:nvSpPr>
        <p:spPr>
          <a:xfrm>
            <a:off x="320040" y="2670048"/>
            <a:ext cx="5029200" cy="274320"/>
          </a:xfrm>
          <a:prstGeom prst="rect">
            <a:avLst/>
          </a:prstGeom>
          <a:noFill/>
        </p:spPr>
        <p:txBody>
          <a:bodyPr wrap="square">
            <a:spAutoFit/>
          </a:bodyPr>
          <a:lstStyle/>
          <a:p>
            <a:pPr algn="l"/>
            <a:r>
              <a:rPr sz="1400" b="1" i="0">
                <a:solidFill>
                  <a:srgbClr val="2D2D2D"/>
                </a:solidFill>
              </a:rPr>
              <a:t>  •  Entity Duplication Rate</a:t>
            </a:r>
          </a:p>
        </p:txBody>
      </p:sp>
      <p:sp>
        <p:nvSpPr>
          <p:cNvPr id="10" name="TextBox 9"/>
          <p:cNvSpPr txBox="1"/>
          <p:nvPr/>
        </p:nvSpPr>
        <p:spPr>
          <a:xfrm>
            <a:off x="320040" y="2926080"/>
            <a:ext cx="5029200" cy="548640"/>
          </a:xfrm>
          <a:prstGeom prst="rect">
            <a:avLst/>
          </a:prstGeom>
          <a:noFill/>
        </p:spPr>
        <p:txBody>
          <a:bodyPr wrap="square">
            <a:spAutoFit/>
          </a:bodyPr>
          <a:lstStyle/>
          <a:p>
            <a:pPr algn="l"/>
            <a:r>
              <a:rPr sz="1200" b="0" i="0">
                <a:solidFill>
                  <a:srgbClr val="555555"/>
                </a:solidFill>
              </a:rPr>
              <a:t>       % excess nodes for same entity
(baseline: ~0%, full data: 20–30%)</a:t>
            </a:r>
          </a:p>
        </p:txBody>
      </p:sp>
      <p:sp>
        <p:nvSpPr>
          <p:cNvPr id="11" name="TextBox 10"/>
          <p:cNvSpPr txBox="1"/>
          <p:nvPr/>
        </p:nvSpPr>
        <p:spPr>
          <a:xfrm>
            <a:off x="320040" y="3511296"/>
            <a:ext cx="5029200" cy="274320"/>
          </a:xfrm>
          <a:prstGeom prst="rect">
            <a:avLst/>
          </a:prstGeom>
          <a:noFill/>
        </p:spPr>
        <p:txBody>
          <a:bodyPr wrap="square">
            <a:spAutoFit/>
          </a:bodyPr>
          <a:lstStyle/>
          <a:p>
            <a:pPr algn="l"/>
            <a:r>
              <a:rPr sz="1400" b="1" i="0">
                <a:solidFill>
                  <a:srgbClr val="2D2D2D"/>
                </a:solidFill>
              </a:rPr>
              <a:t>  •  Type Inconsistency</a:t>
            </a:r>
          </a:p>
        </p:txBody>
      </p:sp>
      <p:sp>
        <p:nvSpPr>
          <p:cNvPr id="12" name="TextBox 11"/>
          <p:cNvSpPr txBox="1"/>
          <p:nvPr/>
        </p:nvSpPr>
        <p:spPr>
          <a:xfrm>
            <a:off x="320040" y="3767328"/>
            <a:ext cx="5029200" cy="548640"/>
          </a:xfrm>
          <a:prstGeom prst="rect">
            <a:avLst/>
          </a:prstGeom>
          <a:noFill/>
        </p:spPr>
        <p:txBody>
          <a:bodyPr wrap="square">
            <a:spAutoFit/>
          </a:bodyPr>
          <a:lstStyle/>
          <a:p>
            <a:pPr algn="l"/>
            <a:r>
              <a:rPr sz="1200" b="0" i="0">
                <a:solidFill>
                  <a:srgbClr val="555555"/>
                </a:solidFill>
              </a:rPr>
              <a:t>       % root concepts with &gt;1 label
(baseline: 8–15%,  novel: &lt;2%)</a:t>
            </a:r>
          </a:p>
        </p:txBody>
      </p:sp>
      <p:sp>
        <p:nvSpPr>
          <p:cNvPr id="13" name="TextBox 12"/>
          <p:cNvSpPr txBox="1"/>
          <p:nvPr/>
        </p:nvSpPr>
        <p:spPr>
          <a:xfrm>
            <a:off x="320040" y="4352544"/>
            <a:ext cx="5029200" cy="274320"/>
          </a:xfrm>
          <a:prstGeom prst="rect">
            <a:avLst/>
          </a:prstGeom>
          <a:noFill/>
        </p:spPr>
        <p:txBody>
          <a:bodyPr wrap="square">
            <a:spAutoFit/>
          </a:bodyPr>
          <a:lstStyle/>
          <a:p>
            <a:pPr algn="l"/>
            <a:r>
              <a:rPr sz="1400" b="1" i="0">
                <a:solidFill>
                  <a:srgbClr val="2D2D2D"/>
                </a:solidFill>
              </a:rPr>
              <a:t>  •  Precision / Recall / F1</a:t>
            </a:r>
          </a:p>
        </p:txBody>
      </p:sp>
      <p:sp>
        <p:nvSpPr>
          <p:cNvPr id="14" name="TextBox 13"/>
          <p:cNvSpPr txBox="1"/>
          <p:nvPr/>
        </p:nvSpPr>
        <p:spPr>
          <a:xfrm>
            <a:off x="320040" y="4608576"/>
            <a:ext cx="5029200" cy="548640"/>
          </a:xfrm>
          <a:prstGeom prst="rect">
            <a:avLst/>
          </a:prstGeom>
          <a:noFill/>
        </p:spPr>
        <p:txBody>
          <a:bodyPr wrap="square">
            <a:spAutoFit/>
          </a:bodyPr>
          <a:lstStyle/>
          <a:p>
            <a:pPr algn="l"/>
            <a:r>
              <a:rPr sz="1200" b="0" i="0">
                <a:solidFill>
                  <a:srgbClr val="555555"/>
                </a:solidFill>
              </a:rPr>
              <a:t>       vs. Riskine reference ontology
(semantic match via LLM judge)
targets: P&gt;80%, R&gt;70%, F1&gt;0.75</a:t>
            </a:r>
          </a:p>
        </p:txBody>
      </p:sp>
      <p:sp>
        <p:nvSpPr>
          <p:cNvPr id="15" name="Rectangle 14"/>
          <p:cNvSpPr/>
          <p:nvPr/>
        </p:nvSpPr>
        <p:spPr>
          <a:xfrm>
            <a:off x="5943600" y="1298448"/>
            <a:ext cx="5943600" cy="4846320"/>
          </a:xfrm>
          <a:prstGeom prst="rect">
            <a:avLst/>
          </a:prstGeom>
          <a:solidFill>
            <a:srgbClr val="F4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080760" y="1371600"/>
            <a:ext cx="5669280" cy="365760"/>
          </a:xfrm>
          <a:prstGeom prst="rect">
            <a:avLst/>
          </a:prstGeom>
          <a:noFill/>
        </p:spPr>
        <p:txBody>
          <a:bodyPr wrap="square">
            <a:spAutoFit/>
          </a:bodyPr>
          <a:lstStyle/>
          <a:p>
            <a:pPr algn="l"/>
            <a:r>
              <a:rPr sz="1700" b="1" i="0">
                <a:solidFill>
                  <a:srgbClr val="002B7F"/>
                </a:solidFill>
              </a:rPr>
              <a:t>20 Query Tasks — by Category</a:t>
            </a:r>
          </a:p>
        </p:txBody>
      </p:sp>
      <p:sp>
        <p:nvSpPr>
          <p:cNvPr id="17" name="TextBox 16"/>
          <p:cNvSpPr txBox="1"/>
          <p:nvPr/>
        </p:nvSpPr>
        <p:spPr>
          <a:xfrm>
            <a:off x="6080760" y="1828800"/>
            <a:ext cx="5669280" cy="274320"/>
          </a:xfrm>
          <a:prstGeom prst="rect">
            <a:avLst/>
          </a:prstGeom>
          <a:noFill/>
        </p:spPr>
        <p:txBody>
          <a:bodyPr wrap="square">
            <a:spAutoFit/>
          </a:bodyPr>
          <a:lstStyle/>
          <a:p>
            <a:pPr algn="l"/>
            <a:r>
              <a:rPr sz="1300" b="1" i="0">
                <a:solidFill>
                  <a:srgbClr val="2D2D2D"/>
                </a:solidFill>
              </a:rPr>
              <a:t>  •  Coverage (6 tasks)</a:t>
            </a:r>
          </a:p>
        </p:txBody>
      </p:sp>
      <p:sp>
        <p:nvSpPr>
          <p:cNvPr id="18" name="TextBox 17"/>
          <p:cNvSpPr txBox="1"/>
          <p:nvPr/>
        </p:nvSpPr>
        <p:spPr>
          <a:xfrm>
            <a:off x="6080760" y="2103120"/>
            <a:ext cx="5669280" cy="256032"/>
          </a:xfrm>
          <a:prstGeom prst="rect">
            <a:avLst/>
          </a:prstGeom>
          <a:noFill/>
        </p:spPr>
        <p:txBody>
          <a:bodyPr wrap="square">
            <a:spAutoFit/>
          </a:bodyPr>
          <a:lstStyle/>
          <a:p>
            <a:pPr algn="l"/>
            <a:r>
              <a:rPr sz="1100" b="0" i="1">
                <a:solidFill>
                  <a:srgbClr val="555555"/>
                </a:solidFill>
              </a:rPr>
              <a:t>       e.g. What property types are covered?</a:t>
            </a:r>
          </a:p>
        </p:txBody>
      </p:sp>
      <p:sp>
        <p:nvSpPr>
          <p:cNvPr id="19" name="TextBox 18"/>
          <p:cNvSpPr txBox="1"/>
          <p:nvPr/>
        </p:nvSpPr>
        <p:spPr>
          <a:xfrm>
            <a:off x="6080760" y="2651760"/>
            <a:ext cx="5669280" cy="274320"/>
          </a:xfrm>
          <a:prstGeom prst="rect">
            <a:avLst/>
          </a:prstGeom>
          <a:noFill/>
        </p:spPr>
        <p:txBody>
          <a:bodyPr wrap="square">
            <a:spAutoFit/>
          </a:bodyPr>
          <a:lstStyle/>
          <a:p>
            <a:pPr algn="l"/>
            <a:r>
              <a:rPr sz="1300" b="1" i="0">
                <a:solidFill>
                  <a:srgbClr val="2D2D2D"/>
                </a:solidFill>
              </a:rPr>
              <a:t>  •  Exclusions (3 tasks)</a:t>
            </a:r>
          </a:p>
        </p:txBody>
      </p:sp>
      <p:sp>
        <p:nvSpPr>
          <p:cNvPr id="20" name="TextBox 19"/>
          <p:cNvSpPr txBox="1"/>
          <p:nvPr/>
        </p:nvSpPr>
        <p:spPr>
          <a:xfrm>
            <a:off x="6080760" y="2926079"/>
            <a:ext cx="5669280" cy="256032"/>
          </a:xfrm>
          <a:prstGeom prst="rect">
            <a:avLst/>
          </a:prstGeom>
          <a:noFill/>
        </p:spPr>
        <p:txBody>
          <a:bodyPr wrap="square">
            <a:spAutoFit/>
          </a:bodyPr>
          <a:lstStyle/>
          <a:p>
            <a:pPr algn="l"/>
            <a:r>
              <a:rPr sz="1100" b="0" i="1">
                <a:solidFill>
                  <a:srgbClr val="555555"/>
                </a:solidFill>
              </a:rPr>
              <a:t>       e.g. Earth movement covered?</a:t>
            </a:r>
          </a:p>
        </p:txBody>
      </p:sp>
      <p:sp>
        <p:nvSpPr>
          <p:cNvPr id="21" name="TextBox 20"/>
          <p:cNvSpPr txBox="1"/>
          <p:nvPr/>
        </p:nvSpPr>
        <p:spPr>
          <a:xfrm>
            <a:off x="6080760" y="3474720"/>
            <a:ext cx="5669280" cy="274320"/>
          </a:xfrm>
          <a:prstGeom prst="rect">
            <a:avLst/>
          </a:prstGeom>
          <a:noFill/>
        </p:spPr>
        <p:txBody>
          <a:bodyPr wrap="square">
            <a:spAutoFit/>
          </a:bodyPr>
          <a:lstStyle/>
          <a:p>
            <a:pPr algn="l"/>
            <a:r>
              <a:rPr sz="1300" b="1" i="0">
                <a:solidFill>
                  <a:srgbClr val="2D2D2D"/>
                </a:solidFill>
              </a:rPr>
              <a:t>  •  Definitions (2 tasks)</a:t>
            </a:r>
          </a:p>
        </p:txBody>
      </p:sp>
      <p:sp>
        <p:nvSpPr>
          <p:cNvPr id="22" name="TextBox 21"/>
          <p:cNvSpPr txBox="1"/>
          <p:nvPr/>
        </p:nvSpPr>
        <p:spPr>
          <a:xfrm>
            <a:off x="6080760" y="3749039"/>
            <a:ext cx="5669280" cy="256032"/>
          </a:xfrm>
          <a:prstGeom prst="rect">
            <a:avLst/>
          </a:prstGeom>
          <a:noFill/>
        </p:spPr>
        <p:txBody>
          <a:bodyPr wrap="square">
            <a:spAutoFit/>
          </a:bodyPr>
          <a:lstStyle/>
          <a:p>
            <a:pPr algn="l"/>
            <a:r>
              <a:rPr sz="1100" b="0" i="1">
                <a:solidFill>
                  <a:srgbClr val="555555"/>
                </a:solidFill>
              </a:rPr>
              <a:t>       e.g. Define 'flood'?</a:t>
            </a:r>
          </a:p>
        </p:txBody>
      </p:sp>
      <p:sp>
        <p:nvSpPr>
          <p:cNvPr id="23" name="TextBox 22"/>
          <p:cNvSpPr txBox="1"/>
          <p:nvPr/>
        </p:nvSpPr>
        <p:spPr>
          <a:xfrm>
            <a:off x="6080760" y="4297679"/>
            <a:ext cx="5669280" cy="274320"/>
          </a:xfrm>
          <a:prstGeom prst="rect">
            <a:avLst/>
          </a:prstGeom>
          <a:noFill/>
        </p:spPr>
        <p:txBody>
          <a:bodyPr wrap="square">
            <a:spAutoFit/>
          </a:bodyPr>
          <a:lstStyle/>
          <a:p>
            <a:pPr algn="l"/>
            <a:r>
              <a:rPr sz="1300" b="1" i="0">
                <a:solidFill>
                  <a:srgbClr val="2D2D2D"/>
                </a:solidFill>
              </a:rPr>
              <a:t>  •  Claims (3 tasks)</a:t>
            </a:r>
          </a:p>
        </p:txBody>
      </p:sp>
      <p:sp>
        <p:nvSpPr>
          <p:cNvPr id="24" name="TextBox 23"/>
          <p:cNvSpPr txBox="1"/>
          <p:nvPr/>
        </p:nvSpPr>
        <p:spPr>
          <a:xfrm>
            <a:off x="6080760" y="4571999"/>
            <a:ext cx="5669280" cy="256032"/>
          </a:xfrm>
          <a:prstGeom prst="rect">
            <a:avLst/>
          </a:prstGeom>
          <a:noFill/>
        </p:spPr>
        <p:txBody>
          <a:bodyPr wrap="square">
            <a:spAutoFit/>
          </a:bodyPr>
          <a:lstStyle/>
          <a:p>
            <a:pPr algn="l"/>
            <a:r>
              <a:rPr sz="1100" b="0" i="1">
                <a:solidFill>
                  <a:srgbClr val="555555"/>
                </a:solidFill>
              </a:rPr>
              <a:t>       e.g. Policyholder obligations after loss?</a:t>
            </a:r>
          </a:p>
        </p:txBody>
      </p:sp>
      <p:sp>
        <p:nvSpPr>
          <p:cNvPr id="25" name="TextBox 24"/>
          <p:cNvSpPr txBox="1"/>
          <p:nvPr/>
        </p:nvSpPr>
        <p:spPr>
          <a:xfrm>
            <a:off x="6080760" y="5120639"/>
            <a:ext cx="5669280" cy="274320"/>
          </a:xfrm>
          <a:prstGeom prst="rect">
            <a:avLst/>
          </a:prstGeom>
          <a:noFill/>
        </p:spPr>
        <p:txBody>
          <a:bodyPr wrap="square">
            <a:spAutoFit/>
          </a:bodyPr>
          <a:lstStyle/>
          <a:p>
            <a:pPr algn="l"/>
            <a:r>
              <a:rPr sz="1300" b="1" i="0">
                <a:solidFill>
                  <a:srgbClr val="2D2D2D"/>
                </a:solidFill>
              </a:rPr>
              <a:t>  •  Policy Terms (6 tasks)</a:t>
            </a:r>
          </a:p>
        </p:txBody>
      </p:sp>
      <p:sp>
        <p:nvSpPr>
          <p:cNvPr id="26" name="TextBox 25"/>
          <p:cNvSpPr txBox="1"/>
          <p:nvPr/>
        </p:nvSpPr>
        <p:spPr>
          <a:xfrm>
            <a:off x="6080760" y="5394959"/>
            <a:ext cx="5669280" cy="256032"/>
          </a:xfrm>
          <a:prstGeom prst="rect">
            <a:avLst/>
          </a:prstGeom>
          <a:noFill/>
        </p:spPr>
        <p:txBody>
          <a:bodyPr wrap="square">
            <a:spAutoFit/>
          </a:bodyPr>
          <a:lstStyle/>
          <a:p>
            <a:pPr algn="l"/>
            <a:r>
              <a:rPr sz="1100" b="0" i="1">
                <a:solidFill>
                  <a:srgbClr val="555555"/>
                </a:solidFill>
              </a:rPr>
              <a:t>       e.g. Waiting period?</a:t>
            </a:r>
          </a:p>
        </p:txBody>
      </p:sp>
      <p:sp>
        <p:nvSpPr>
          <p:cNvPr id="27" name="TextBox 26"/>
          <p:cNvSpPr txBox="1"/>
          <p:nvPr/>
        </p:nvSpPr>
        <p:spPr>
          <a:xfrm>
            <a:off x="274320" y="6263640"/>
            <a:ext cx="11430000" cy="365760"/>
          </a:xfrm>
          <a:prstGeom prst="rect">
            <a:avLst/>
          </a:prstGeom>
          <a:noFill/>
        </p:spPr>
        <p:txBody>
          <a:bodyPr wrap="square">
            <a:spAutoFit/>
          </a:bodyPr>
          <a:lstStyle/>
          <a:p>
            <a:pPr algn="l"/>
            <a:r>
              <a:rPr sz="1300" b="0" i="1">
                <a:solidFill>
                  <a:srgbClr val="555555"/>
                </a:solidFill>
              </a:rPr>
              <a:t>Manual evaluation: 2 domain experts rate 50 classes + 30 hierarchies (Cohen's κ &gt; 0.7)</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97280"/>
          </a:xfrm>
          <a:prstGeom prst="rect">
            <a:avLst/>
          </a:prstGeom>
          <a:solidFill>
            <a:srgbClr val="002B7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137160"/>
            <a:ext cx="11430000" cy="914400"/>
          </a:xfrm>
          <a:prstGeom prst="rect">
            <a:avLst/>
          </a:prstGeom>
          <a:noFill/>
        </p:spPr>
        <p:txBody>
          <a:bodyPr wrap="square">
            <a:spAutoFit/>
          </a:bodyPr>
          <a:lstStyle/>
          <a:p>
            <a:pPr algn="l"/>
            <a:r>
              <a:rPr sz="3000" b="1" i="0">
                <a:solidFill>
                  <a:srgbClr val="FFFFFF"/>
                </a:solidFill>
              </a:rPr>
              <a:t>Results: Baseline vs. Zone 1 Ablation</a:t>
            </a:r>
          </a:p>
        </p:txBody>
      </p:sp>
      <p:sp>
        <p:nvSpPr>
          <p:cNvPr id="4" name="Rectangle 3"/>
          <p:cNvSpPr/>
          <p:nvPr/>
        </p:nvSpPr>
        <p:spPr>
          <a:xfrm>
            <a:off x="0" y="1097280"/>
            <a:ext cx="12188952" cy="54864"/>
          </a:xfrm>
          <a:prstGeom prst="rect">
            <a:avLst/>
          </a:prstGeom>
          <a:solidFill>
            <a:srgbClr val="F2A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274320" y="1325880"/>
            <a:ext cx="2971800" cy="685800"/>
          </a:xfrm>
          <a:prstGeom prst="rect">
            <a:avLst/>
          </a:prstGeom>
          <a:solidFill>
            <a:srgbClr val="002B7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20040" y="1371600"/>
            <a:ext cx="2880360" cy="594360"/>
          </a:xfrm>
          <a:prstGeom prst="rect">
            <a:avLst/>
          </a:prstGeom>
          <a:noFill/>
        </p:spPr>
        <p:txBody>
          <a:bodyPr wrap="square">
            <a:spAutoFit/>
          </a:bodyPr>
          <a:lstStyle/>
          <a:p>
            <a:pPr algn="ctr"/>
            <a:r>
              <a:rPr sz="1300" b="1" i="0">
                <a:solidFill>
                  <a:srgbClr val="FFFFFF"/>
                </a:solidFill>
              </a:rPr>
              <a:t>Metric</a:t>
            </a:r>
          </a:p>
        </p:txBody>
      </p:sp>
      <p:sp>
        <p:nvSpPr>
          <p:cNvPr id="7" name="Rectangle 6"/>
          <p:cNvSpPr/>
          <p:nvPr/>
        </p:nvSpPr>
        <p:spPr>
          <a:xfrm>
            <a:off x="3291839" y="1325880"/>
            <a:ext cx="2514600" cy="685800"/>
          </a:xfrm>
          <a:prstGeom prst="rect">
            <a:avLst/>
          </a:prstGeom>
          <a:solidFill>
            <a:srgbClr val="002B7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337559" y="1371600"/>
            <a:ext cx="2423160" cy="594360"/>
          </a:xfrm>
          <a:prstGeom prst="rect">
            <a:avLst/>
          </a:prstGeom>
          <a:noFill/>
        </p:spPr>
        <p:txBody>
          <a:bodyPr wrap="square">
            <a:spAutoFit/>
          </a:bodyPr>
          <a:lstStyle/>
          <a:p>
            <a:pPr algn="ctr"/>
            <a:r>
              <a:rPr sz="1300" b="1" i="0">
                <a:solidFill>
                  <a:srgbClr val="FFFFFF"/>
                </a:solidFill>
              </a:rPr>
              <a:t>Baseline
(512-token chunks)</a:t>
            </a:r>
          </a:p>
        </p:txBody>
      </p:sp>
      <p:sp>
        <p:nvSpPr>
          <p:cNvPr id="9" name="Rectangle 8"/>
          <p:cNvSpPr/>
          <p:nvPr/>
        </p:nvSpPr>
        <p:spPr>
          <a:xfrm>
            <a:off x="5852159" y="1325880"/>
            <a:ext cx="2514600" cy="685800"/>
          </a:xfrm>
          <a:prstGeom prst="rect">
            <a:avLst/>
          </a:prstGeom>
          <a:solidFill>
            <a:srgbClr val="156E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897879" y="1371600"/>
            <a:ext cx="2423160" cy="594360"/>
          </a:xfrm>
          <a:prstGeom prst="rect">
            <a:avLst/>
          </a:prstGeom>
          <a:noFill/>
        </p:spPr>
        <p:txBody>
          <a:bodyPr wrap="square">
            <a:spAutoFit/>
          </a:bodyPr>
          <a:lstStyle/>
          <a:p>
            <a:pPr algn="ctr"/>
            <a:r>
              <a:rPr sz="1300" b="1" i="0">
                <a:solidFill>
                  <a:srgbClr val="FFFFFF"/>
                </a:solidFill>
              </a:rPr>
              <a:t>Baseline +
Zone 1 Chunks</a:t>
            </a:r>
          </a:p>
        </p:txBody>
      </p:sp>
      <p:sp>
        <p:nvSpPr>
          <p:cNvPr id="11" name="Rectangle 10"/>
          <p:cNvSpPr/>
          <p:nvPr/>
        </p:nvSpPr>
        <p:spPr>
          <a:xfrm>
            <a:off x="8412480" y="1325880"/>
            <a:ext cx="2514600" cy="685800"/>
          </a:xfrm>
          <a:prstGeom prst="rect">
            <a:avLst/>
          </a:prstGeom>
          <a:solidFill>
            <a:srgbClr val="1B7F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458200" y="1371600"/>
            <a:ext cx="2423160" cy="594360"/>
          </a:xfrm>
          <a:prstGeom prst="rect">
            <a:avLst/>
          </a:prstGeom>
          <a:noFill/>
        </p:spPr>
        <p:txBody>
          <a:bodyPr wrap="square">
            <a:spAutoFit/>
          </a:bodyPr>
          <a:lstStyle/>
          <a:p>
            <a:pPr algn="ctr"/>
            <a:r>
              <a:rPr sz="1300" b="1" i="0">
                <a:solidFill>
                  <a:srgbClr val="FFFFFF"/>
                </a:solidFill>
              </a:rPr>
              <a:t>Novel Pipeline
(target)</a:t>
            </a:r>
          </a:p>
        </p:txBody>
      </p:sp>
      <p:sp>
        <p:nvSpPr>
          <p:cNvPr id="13" name="Rectangle 12"/>
          <p:cNvSpPr/>
          <p:nvPr/>
        </p:nvSpPr>
        <p:spPr>
          <a:xfrm>
            <a:off x="274320" y="2029968"/>
            <a:ext cx="2971800" cy="47548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47472" y="2103120"/>
            <a:ext cx="2834639" cy="347472"/>
          </a:xfrm>
          <a:prstGeom prst="rect">
            <a:avLst/>
          </a:prstGeom>
          <a:noFill/>
        </p:spPr>
        <p:txBody>
          <a:bodyPr wrap="square">
            <a:spAutoFit/>
          </a:bodyPr>
          <a:lstStyle/>
          <a:p>
            <a:pPr algn="ctr"/>
            <a:r>
              <a:rPr sz="1400" b="1" i="0">
                <a:solidFill>
                  <a:srgbClr val="002B7F"/>
                </a:solidFill>
              </a:rPr>
              <a:t>Nodes</a:t>
            </a:r>
          </a:p>
        </p:txBody>
      </p:sp>
      <p:sp>
        <p:nvSpPr>
          <p:cNvPr id="15" name="Rectangle 14"/>
          <p:cNvSpPr/>
          <p:nvPr/>
        </p:nvSpPr>
        <p:spPr>
          <a:xfrm>
            <a:off x="3291839" y="2029968"/>
            <a:ext cx="2514600" cy="47548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364991" y="2103120"/>
            <a:ext cx="2377439" cy="347472"/>
          </a:xfrm>
          <a:prstGeom prst="rect">
            <a:avLst/>
          </a:prstGeom>
          <a:noFill/>
        </p:spPr>
        <p:txBody>
          <a:bodyPr wrap="square">
            <a:spAutoFit/>
          </a:bodyPr>
          <a:lstStyle/>
          <a:p>
            <a:pPr algn="ctr"/>
            <a:r>
              <a:rPr sz="1400" b="0" i="0">
                <a:solidFill>
                  <a:srgbClr val="2D2D2D"/>
                </a:solidFill>
              </a:rPr>
              <a:t>365</a:t>
            </a:r>
          </a:p>
        </p:txBody>
      </p:sp>
      <p:sp>
        <p:nvSpPr>
          <p:cNvPr id="17" name="Rectangle 16"/>
          <p:cNvSpPr/>
          <p:nvPr/>
        </p:nvSpPr>
        <p:spPr>
          <a:xfrm>
            <a:off x="5852159" y="2029968"/>
            <a:ext cx="2514600" cy="47548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925312" y="2103120"/>
            <a:ext cx="2377439" cy="347472"/>
          </a:xfrm>
          <a:prstGeom prst="rect">
            <a:avLst/>
          </a:prstGeom>
          <a:noFill/>
        </p:spPr>
        <p:txBody>
          <a:bodyPr wrap="square">
            <a:spAutoFit/>
          </a:bodyPr>
          <a:lstStyle/>
          <a:p>
            <a:pPr algn="ctr"/>
            <a:r>
              <a:rPr sz="1400" b="0" i="0">
                <a:solidFill>
                  <a:srgbClr val="2D2D2D"/>
                </a:solidFill>
              </a:rPr>
              <a:t>242 (↓34%)</a:t>
            </a:r>
          </a:p>
        </p:txBody>
      </p:sp>
      <p:sp>
        <p:nvSpPr>
          <p:cNvPr id="19" name="Rectangle 18"/>
          <p:cNvSpPr/>
          <p:nvPr/>
        </p:nvSpPr>
        <p:spPr>
          <a:xfrm>
            <a:off x="8412480" y="2029968"/>
            <a:ext cx="2514600" cy="47548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485632" y="2103120"/>
            <a:ext cx="2377439" cy="347472"/>
          </a:xfrm>
          <a:prstGeom prst="rect">
            <a:avLst/>
          </a:prstGeom>
          <a:noFill/>
        </p:spPr>
        <p:txBody>
          <a:bodyPr wrap="square">
            <a:spAutoFit/>
          </a:bodyPr>
          <a:lstStyle/>
          <a:p>
            <a:pPr algn="ctr"/>
            <a:r>
              <a:rPr sz="1400" b="1" i="0">
                <a:solidFill>
                  <a:srgbClr val="1B7F3B"/>
                </a:solidFill>
              </a:rPr>
              <a:t>~150–200</a:t>
            </a:r>
          </a:p>
        </p:txBody>
      </p:sp>
      <p:sp>
        <p:nvSpPr>
          <p:cNvPr id="21" name="Rectangle 20"/>
          <p:cNvSpPr/>
          <p:nvPr/>
        </p:nvSpPr>
        <p:spPr>
          <a:xfrm>
            <a:off x="274320" y="2523744"/>
            <a:ext cx="2971800" cy="475488"/>
          </a:xfrm>
          <a:prstGeom prst="rect">
            <a:avLst/>
          </a:prstGeom>
          <a:solidFill>
            <a:srgbClr val="F4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47472" y="2596896"/>
            <a:ext cx="2834639" cy="347472"/>
          </a:xfrm>
          <a:prstGeom prst="rect">
            <a:avLst/>
          </a:prstGeom>
          <a:noFill/>
        </p:spPr>
        <p:txBody>
          <a:bodyPr wrap="square">
            <a:spAutoFit/>
          </a:bodyPr>
          <a:lstStyle/>
          <a:p>
            <a:pPr algn="ctr"/>
            <a:r>
              <a:rPr sz="1400" b="1" i="0">
                <a:solidFill>
                  <a:srgbClr val="002B7F"/>
                </a:solidFill>
              </a:rPr>
              <a:t>Unique labels</a:t>
            </a:r>
          </a:p>
        </p:txBody>
      </p:sp>
      <p:sp>
        <p:nvSpPr>
          <p:cNvPr id="23" name="Rectangle 22"/>
          <p:cNvSpPr/>
          <p:nvPr/>
        </p:nvSpPr>
        <p:spPr>
          <a:xfrm>
            <a:off x="3291839" y="2523744"/>
            <a:ext cx="2514600" cy="475488"/>
          </a:xfrm>
          <a:prstGeom prst="rect">
            <a:avLst/>
          </a:prstGeom>
          <a:solidFill>
            <a:srgbClr val="F4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364991" y="2596896"/>
            <a:ext cx="2377439" cy="347472"/>
          </a:xfrm>
          <a:prstGeom prst="rect">
            <a:avLst/>
          </a:prstGeom>
          <a:noFill/>
        </p:spPr>
        <p:txBody>
          <a:bodyPr wrap="square">
            <a:spAutoFit/>
          </a:bodyPr>
          <a:lstStyle/>
          <a:p>
            <a:pPr algn="ctr"/>
            <a:r>
              <a:rPr sz="1400" b="0" i="0">
                <a:solidFill>
                  <a:srgbClr val="2D2D2D"/>
                </a:solidFill>
              </a:rPr>
              <a:t>58</a:t>
            </a:r>
          </a:p>
        </p:txBody>
      </p:sp>
      <p:sp>
        <p:nvSpPr>
          <p:cNvPr id="25" name="Rectangle 24"/>
          <p:cNvSpPr/>
          <p:nvPr/>
        </p:nvSpPr>
        <p:spPr>
          <a:xfrm>
            <a:off x="5852159" y="2523744"/>
            <a:ext cx="2514600" cy="475488"/>
          </a:xfrm>
          <a:prstGeom prst="rect">
            <a:avLst/>
          </a:prstGeom>
          <a:solidFill>
            <a:srgbClr val="F4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925312" y="2596896"/>
            <a:ext cx="2377439" cy="347472"/>
          </a:xfrm>
          <a:prstGeom prst="rect">
            <a:avLst/>
          </a:prstGeom>
          <a:noFill/>
        </p:spPr>
        <p:txBody>
          <a:bodyPr wrap="square">
            <a:spAutoFit/>
          </a:bodyPr>
          <a:lstStyle/>
          <a:p>
            <a:pPr algn="ctr"/>
            <a:r>
              <a:rPr sz="1400" b="0" i="0">
                <a:solidFill>
                  <a:srgbClr val="2D2D2D"/>
                </a:solidFill>
              </a:rPr>
              <a:t>44 (↓24%)</a:t>
            </a:r>
          </a:p>
        </p:txBody>
      </p:sp>
      <p:sp>
        <p:nvSpPr>
          <p:cNvPr id="27" name="Rectangle 26"/>
          <p:cNvSpPr/>
          <p:nvPr/>
        </p:nvSpPr>
        <p:spPr>
          <a:xfrm>
            <a:off x="8412480" y="2523744"/>
            <a:ext cx="2514600" cy="475488"/>
          </a:xfrm>
          <a:prstGeom prst="rect">
            <a:avLst/>
          </a:prstGeom>
          <a:solidFill>
            <a:srgbClr val="F4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485632" y="2596896"/>
            <a:ext cx="2377439" cy="347472"/>
          </a:xfrm>
          <a:prstGeom prst="rect">
            <a:avLst/>
          </a:prstGeom>
          <a:noFill/>
        </p:spPr>
        <p:txBody>
          <a:bodyPr wrap="square">
            <a:spAutoFit/>
          </a:bodyPr>
          <a:lstStyle/>
          <a:p>
            <a:pPr algn="ctr"/>
            <a:r>
              <a:rPr sz="1400" b="1" i="0">
                <a:solidFill>
                  <a:srgbClr val="1B7F3B"/>
                </a:solidFill>
              </a:rPr>
              <a:t>20–30</a:t>
            </a:r>
          </a:p>
        </p:txBody>
      </p:sp>
      <p:sp>
        <p:nvSpPr>
          <p:cNvPr id="29" name="Rectangle 28"/>
          <p:cNvSpPr/>
          <p:nvPr/>
        </p:nvSpPr>
        <p:spPr>
          <a:xfrm>
            <a:off x="274320" y="3017520"/>
            <a:ext cx="2971800" cy="47548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47472" y="3090672"/>
            <a:ext cx="2834639" cy="347472"/>
          </a:xfrm>
          <a:prstGeom prst="rect">
            <a:avLst/>
          </a:prstGeom>
          <a:noFill/>
        </p:spPr>
        <p:txBody>
          <a:bodyPr wrap="square">
            <a:spAutoFit/>
          </a:bodyPr>
          <a:lstStyle/>
          <a:p>
            <a:pPr algn="ctr"/>
            <a:r>
              <a:rPr sz="1400" b="1" i="0">
                <a:solidFill>
                  <a:srgbClr val="002B7F"/>
                </a:solidFill>
              </a:rPr>
              <a:t>Type inconsistency</a:t>
            </a:r>
          </a:p>
        </p:txBody>
      </p:sp>
      <p:sp>
        <p:nvSpPr>
          <p:cNvPr id="31" name="Rectangle 30"/>
          <p:cNvSpPr/>
          <p:nvPr/>
        </p:nvSpPr>
        <p:spPr>
          <a:xfrm>
            <a:off x="3291839" y="3017520"/>
            <a:ext cx="2514600" cy="47548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364991" y="3090672"/>
            <a:ext cx="2377439" cy="347472"/>
          </a:xfrm>
          <a:prstGeom prst="rect">
            <a:avLst/>
          </a:prstGeom>
          <a:noFill/>
        </p:spPr>
        <p:txBody>
          <a:bodyPr wrap="square">
            <a:spAutoFit/>
          </a:bodyPr>
          <a:lstStyle/>
          <a:p>
            <a:pPr algn="ctr"/>
            <a:r>
              <a:rPr sz="1400" b="0" i="0">
                <a:solidFill>
                  <a:srgbClr val="2D2D2D"/>
                </a:solidFill>
              </a:rPr>
              <a:t>8.0%</a:t>
            </a:r>
          </a:p>
        </p:txBody>
      </p:sp>
      <p:sp>
        <p:nvSpPr>
          <p:cNvPr id="33" name="Rectangle 32"/>
          <p:cNvSpPr/>
          <p:nvPr/>
        </p:nvSpPr>
        <p:spPr>
          <a:xfrm>
            <a:off x="5852159" y="3017520"/>
            <a:ext cx="2514600" cy="47548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925312" y="3090672"/>
            <a:ext cx="2377439" cy="347472"/>
          </a:xfrm>
          <a:prstGeom prst="rect">
            <a:avLst/>
          </a:prstGeom>
          <a:noFill/>
        </p:spPr>
        <p:txBody>
          <a:bodyPr wrap="square">
            <a:spAutoFit/>
          </a:bodyPr>
          <a:lstStyle/>
          <a:p>
            <a:pPr algn="ctr"/>
            <a:r>
              <a:rPr sz="1400" b="1" i="0">
                <a:solidFill>
                  <a:srgbClr val="1B7F3B"/>
                </a:solidFill>
              </a:rPr>
              <a:t>15.2% (↑)</a:t>
            </a:r>
          </a:p>
        </p:txBody>
      </p:sp>
      <p:sp>
        <p:nvSpPr>
          <p:cNvPr id="35" name="Rectangle 34"/>
          <p:cNvSpPr/>
          <p:nvPr/>
        </p:nvSpPr>
        <p:spPr>
          <a:xfrm>
            <a:off x="8412480" y="3017520"/>
            <a:ext cx="2514600" cy="47548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485632" y="3090672"/>
            <a:ext cx="2377439" cy="347472"/>
          </a:xfrm>
          <a:prstGeom prst="rect">
            <a:avLst/>
          </a:prstGeom>
          <a:noFill/>
        </p:spPr>
        <p:txBody>
          <a:bodyPr wrap="square">
            <a:spAutoFit/>
          </a:bodyPr>
          <a:lstStyle/>
          <a:p>
            <a:pPr algn="ctr"/>
            <a:r>
              <a:rPr sz="1400" b="1" i="0">
                <a:solidFill>
                  <a:srgbClr val="1B7F3B"/>
                </a:solidFill>
              </a:rPr>
              <a:t>&lt; 2%</a:t>
            </a:r>
          </a:p>
        </p:txBody>
      </p:sp>
      <p:sp>
        <p:nvSpPr>
          <p:cNvPr id="37" name="Rectangle 36"/>
          <p:cNvSpPr/>
          <p:nvPr/>
        </p:nvSpPr>
        <p:spPr>
          <a:xfrm>
            <a:off x="274320" y="3511296"/>
            <a:ext cx="2971800" cy="475488"/>
          </a:xfrm>
          <a:prstGeom prst="rect">
            <a:avLst/>
          </a:prstGeom>
          <a:solidFill>
            <a:srgbClr val="F4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347472" y="3584448"/>
            <a:ext cx="2834639" cy="347472"/>
          </a:xfrm>
          <a:prstGeom prst="rect">
            <a:avLst/>
          </a:prstGeom>
          <a:noFill/>
        </p:spPr>
        <p:txBody>
          <a:bodyPr wrap="square">
            <a:spAutoFit/>
          </a:bodyPr>
          <a:lstStyle/>
          <a:p>
            <a:pPr algn="ctr"/>
            <a:r>
              <a:rPr sz="1400" b="1" i="0">
                <a:solidFill>
                  <a:srgbClr val="002B7F"/>
                </a:solidFill>
              </a:rPr>
              <a:t>Query accuracy</a:t>
            </a:r>
          </a:p>
        </p:txBody>
      </p:sp>
      <p:sp>
        <p:nvSpPr>
          <p:cNvPr id="39" name="Rectangle 38"/>
          <p:cNvSpPr/>
          <p:nvPr/>
        </p:nvSpPr>
        <p:spPr>
          <a:xfrm>
            <a:off x="3291839" y="3511296"/>
            <a:ext cx="2514600" cy="475488"/>
          </a:xfrm>
          <a:prstGeom prst="rect">
            <a:avLst/>
          </a:prstGeom>
          <a:solidFill>
            <a:srgbClr val="F4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364991" y="3584448"/>
            <a:ext cx="2377439" cy="347472"/>
          </a:xfrm>
          <a:prstGeom prst="rect">
            <a:avLst/>
          </a:prstGeom>
          <a:noFill/>
        </p:spPr>
        <p:txBody>
          <a:bodyPr wrap="square">
            <a:spAutoFit/>
          </a:bodyPr>
          <a:lstStyle/>
          <a:p>
            <a:pPr algn="ctr"/>
            <a:r>
              <a:rPr sz="1400" b="0" i="0">
                <a:solidFill>
                  <a:srgbClr val="2D2D2D"/>
                </a:solidFill>
              </a:rPr>
              <a:t>35%</a:t>
            </a:r>
          </a:p>
        </p:txBody>
      </p:sp>
      <p:sp>
        <p:nvSpPr>
          <p:cNvPr id="41" name="Rectangle 40"/>
          <p:cNvSpPr/>
          <p:nvPr/>
        </p:nvSpPr>
        <p:spPr>
          <a:xfrm>
            <a:off x="5852159" y="3511296"/>
            <a:ext cx="2514600" cy="475488"/>
          </a:xfrm>
          <a:prstGeom prst="rect">
            <a:avLst/>
          </a:prstGeom>
          <a:solidFill>
            <a:srgbClr val="F4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5925312" y="3584448"/>
            <a:ext cx="2377439" cy="347472"/>
          </a:xfrm>
          <a:prstGeom prst="rect">
            <a:avLst/>
          </a:prstGeom>
          <a:noFill/>
        </p:spPr>
        <p:txBody>
          <a:bodyPr wrap="square">
            <a:spAutoFit/>
          </a:bodyPr>
          <a:lstStyle/>
          <a:p>
            <a:pPr algn="ctr"/>
            <a:r>
              <a:rPr sz="1400" b="1" i="0">
                <a:solidFill>
                  <a:srgbClr val="1B7F3B"/>
                </a:solidFill>
              </a:rPr>
              <a:t>50% (↑15%)</a:t>
            </a:r>
          </a:p>
        </p:txBody>
      </p:sp>
      <p:sp>
        <p:nvSpPr>
          <p:cNvPr id="43" name="Rectangle 42"/>
          <p:cNvSpPr/>
          <p:nvPr/>
        </p:nvSpPr>
        <p:spPr>
          <a:xfrm>
            <a:off x="8412480" y="3511296"/>
            <a:ext cx="2514600" cy="475488"/>
          </a:xfrm>
          <a:prstGeom prst="rect">
            <a:avLst/>
          </a:prstGeom>
          <a:solidFill>
            <a:srgbClr val="F4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485632" y="3584448"/>
            <a:ext cx="2377439" cy="347472"/>
          </a:xfrm>
          <a:prstGeom prst="rect">
            <a:avLst/>
          </a:prstGeom>
          <a:noFill/>
        </p:spPr>
        <p:txBody>
          <a:bodyPr wrap="square">
            <a:spAutoFit/>
          </a:bodyPr>
          <a:lstStyle/>
          <a:p>
            <a:pPr algn="ctr"/>
            <a:r>
              <a:rPr sz="1400" b="1" i="0">
                <a:solidFill>
                  <a:srgbClr val="1B7F3B"/>
                </a:solidFill>
              </a:rPr>
              <a:t>&gt; 75%</a:t>
            </a:r>
          </a:p>
        </p:txBody>
      </p:sp>
      <p:sp>
        <p:nvSpPr>
          <p:cNvPr id="45" name="Rectangle 44"/>
          <p:cNvSpPr/>
          <p:nvPr/>
        </p:nvSpPr>
        <p:spPr>
          <a:xfrm>
            <a:off x="274320" y="4005072"/>
            <a:ext cx="2971800" cy="47548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347472" y="4078224"/>
            <a:ext cx="2834639" cy="347472"/>
          </a:xfrm>
          <a:prstGeom prst="rect">
            <a:avLst/>
          </a:prstGeom>
          <a:noFill/>
        </p:spPr>
        <p:txBody>
          <a:bodyPr wrap="square">
            <a:spAutoFit/>
          </a:bodyPr>
          <a:lstStyle/>
          <a:p>
            <a:pPr algn="ctr"/>
            <a:r>
              <a:rPr sz="1400" b="1" i="0">
                <a:solidFill>
                  <a:srgbClr val="002B7F"/>
                </a:solidFill>
              </a:rPr>
              <a:t>Entity duplication</a:t>
            </a:r>
          </a:p>
        </p:txBody>
      </p:sp>
      <p:sp>
        <p:nvSpPr>
          <p:cNvPr id="47" name="Rectangle 46"/>
          <p:cNvSpPr/>
          <p:nvPr/>
        </p:nvSpPr>
        <p:spPr>
          <a:xfrm>
            <a:off x="3291839" y="4005072"/>
            <a:ext cx="2514600" cy="47548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3364991" y="4078224"/>
            <a:ext cx="2377439" cy="347472"/>
          </a:xfrm>
          <a:prstGeom prst="rect">
            <a:avLst/>
          </a:prstGeom>
          <a:noFill/>
        </p:spPr>
        <p:txBody>
          <a:bodyPr wrap="square">
            <a:spAutoFit/>
          </a:bodyPr>
          <a:lstStyle/>
          <a:p>
            <a:pPr algn="ctr"/>
            <a:r>
              <a:rPr sz="1400" b="0" i="0">
                <a:solidFill>
                  <a:srgbClr val="2D2D2D"/>
                </a:solidFill>
              </a:rPr>
              <a:t>~0%</a:t>
            </a:r>
          </a:p>
        </p:txBody>
      </p:sp>
      <p:sp>
        <p:nvSpPr>
          <p:cNvPr id="49" name="Rectangle 48"/>
          <p:cNvSpPr/>
          <p:nvPr/>
        </p:nvSpPr>
        <p:spPr>
          <a:xfrm>
            <a:off x="5852159" y="4005072"/>
            <a:ext cx="2514600" cy="47548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5925312" y="4078224"/>
            <a:ext cx="2377439" cy="347472"/>
          </a:xfrm>
          <a:prstGeom prst="rect">
            <a:avLst/>
          </a:prstGeom>
          <a:noFill/>
        </p:spPr>
        <p:txBody>
          <a:bodyPr wrap="square">
            <a:spAutoFit/>
          </a:bodyPr>
          <a:lstStyle/>
          <a:p>
            <a:pPr algn="ctr"/>
            <a:r>
              <a:rPr sz="1400" b="0" i="0">
                <a:solidFill>
                  <a:srgbClr val="2D2D2D"/>
                </a:solidFill>
              </a:rPr>
              <a:t>~0%</a:t>
            </a:r>
          </a:p>
        </p:txBody>
      </p:sp>
      <p:sp>
        <p:nvSpPr>
          <p:cNvPr id="51" name="Rectangle 50"/>
          <p:cNvSpPr/>
          <p:nvPr/>
        </p:nvSpPr>
        <p:spPr>
          <a:xfrm>
            <a:off x="8412480" y="4005072"/>
            <a:ext cx="2514600" cy="47548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8485632" y="4078224"/>
            <a:ext cx="2377439" cy="347472"/>
          </a:xfrm>
          <a:prstGeom prst="rect">
            <a:avLst/>
          </a:prstGeom>
          <a:noFill/>
        </p:spPr>
        <p:txBody>
          <a:bodyPr wrap="square">
            <a:spAutoFit/>
          </a:bodyPr>
          <a:lstStyle/>
          <a:p>
            <a:pPr algn="ctr"/>
            <a:r>
              <a:rPr sz="1400" b="1" i="0">
                <a:solidFill>
                  <a:srgbClr val="1B7F3B"/>
                </a:solidFill>
              </a:rPr>
              <a:t>&lt; 5%</a:t>
            </a:r>
          </a:p>
        </p:txBody>
      </p:sp>
      <p:sp>
        <p:nvSpPr>
          <p:cNvPr id="53" name="Rectangle 52"/>
          <p:cNvSpPr/>
          <p:nvPr/>
        </p:nvSpPr>
        <p:spPr>
          <a:xfrm>
            <a:off x="274320" y="4498848"/>
            <a:ext cx="2971800" cy="475488"/>
          </a:xfrm>
          <a:prstGeom prst="rect">
            <a:avLst/>
          </a:prstGeom>
          <a:solidFill>
            <a:srgbClr val="F4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347472" y="4572000"/>
            <a:ext cx="2834639" cy="347472"/>
          </a:xfrm>
          <a:prstGeom prst="rect">
            <a:avLst/>
          </a:prstGeom>
          <a:noFill/>
        </p:spPr>
        <p:txBody>
          <a:bodyPr wrap="square">
            <a:spAutoFit/>
          </a:bodyPr>
          <a:lstStyle/>
          <a:p>
            <a:pPr algn="ctr"/>
            <a:r>
              <a:rPr sz="1400" b="1" i="0">
                <a:solidFill>
                  <a:srgbClr val="002B7F"/>
                </a:solidFill>
              </a:rPr>
              <a:t>F1 vs Riskine</a:t>
            </a:r>
          </a:p>
        </p:txBody>
      </p:sp>
      <p:sp>
        <p:nvSpPr>
          <p:cNvPr id="55" name="Rectangle 54"/>
          <p:cNvSpPr/>
          <p:nvPr/>
        </p:nvSpPr>
        <p:spPr>
          <a:xfrm>
            <a:off x="3291839" y="4498848"/>
            <a:ext cx="2514600" cy="475488"/>
          </a:xfrm>
          <a:prstGeom prst="rect">
            <a:avLst/>
          </a:prstGeom>
          <a:solidFill>
            <a:srgbClr val="F4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3364991" y="4572000"/>
            <a:ext cx="2377439" cy="347472"/>
          </a:xfrm>
          <a:prstGeom prst="rect">
            <a:avLst/>
          </a:prstGeom>
          <a:noFill/>
        </p:spPr>
        <p:txBody>
          <a:bodyPr wrap="square">
            <a:spAutoFit/>
          </a:bodyPr>
          <a:lstStyle/>
          <a:p>
            <a:pPr algn="ctr"/>
            <a:r>
              <a:rPr sz="1400" b="0" i="0">
                <a:solidFill>
                  <a:srgbClr val="2D2D2D"/>
                </a:solidFill>
              </a:rPr>
              <a:t>—</a:t>
            </a:r>
          </a:p>
        </p:txBody>
      </p:sp>
      <p:sp>
        <p:nvSpPr>
          <p:cNvPr id="57" name="Rectangle 56"/>
          <p:cNvSpPr/>
          <p:nvPr/>
        </p:nvSpPr>
        <p:spPr>
          <a:xfrm>
            <a:off x="5852159" y="4498848"/>
            <a:ext cx="2514600" cy="475488"/>
          </a:xfrm>
          <a:prstGeom prst="rect">
            <a:avLst/>
          </a:prstGeom>
          <a:solidFill>
            <a:srgbClr val="F4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5925312" y="4572000"/>
            <a:ext cx="2377439" cy="347472"/>
          </a:xfrm>
          <a:prstGeom prst="rect">
            <a:avLst/>
          </a:prstGeom>
          <a:noFill/>
        </p:spPr>
        <p:txBody>
          <a:bodyPr wrap="square">
            <a:spAutoFit/>
          </a:bodyPr>
          <a:lstStyle/>
          <a:p>
            <a:pPr algn="ctr"/>
            <a:r>
              <a:rPr sz="1400" b="0" i="0">
                <a:solidFill>
                  <a:srgbClr val="2D2D2D"/>
                </a:solidFill>
              </a:rPr>
              <a:t>—</a:t>
            </a:r>
          </a:p>
        </p:txBody>
      </p:sp>
      <p:sp>
        <p:nvSpPr>
          <p:cNvPr id="59" name="Rectangle 58"/>
          <p:cNvSpPr/>
          <p:nvPr/>
        </p:nvSpPr>
        <p:spPr>
          <a:xfrm>
            <a:off x="8412480" y="4498848"/>
            <a:ext cx="2514600" cy="475488"/>
          </a:xfrm>
          <a:prstGeom prst="rect">
            <a:avLst/>
          </a:prstGeom>
          <a:solidFill>
            <a:srgbClr val="F4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8485632" y="4572000"/>
            <a:ext cx="2377439" cy="347472"/>
          </a:xfrm>
          <a:prstGeom prst="rect">
            <a:avLst/>
          </a:prstGeom>
          <a:noFill/>
        </p:spPr>
        <p:txBody>
          <a:bodyPr wrap="square">
            <a:spAutoFit/>
          </a:bodyPr>
          <a:lstStyle/>
          <a:p>
            <a:pPr algn="ctr"/>
            <a:r>
              <a:rPr sz="1400" b="1" i="0">
                <a:solidFill>
                  <a:srgbClr val="1B7F3B"/>
                </a:solidFill>
              </a:rPr>
              <a:t>&gt; 0.75</a:t>
            </a:r>
          </a:p>
        </p:txBody>
      </p:sp>
      <p:sp>
        <p:nvSpPr>
          <p:cNvPr id="61" name="Rectangle 60"/>
          <p:cNvSpPr/>
          <p:nvPr/>
        </p:nvSpPr>
        <p:spPr>
          <a:xfrm>
            <a:off x="274320" y="5102352"/>
            <a:ext cx="11521440" cy="594360"/>
          </a:xfrm>
          <a:prstGeom prst="rect">
            <a:avLst/>
          </a:prstGeom>
          <a:solidFill>
            <a:srgbClr val="FFF8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411480" y="5138928"/>
            <a:ext cx="11247120" cy="530352"/>
          </a:xfrm>
          <a:prstGeom prst="rect">
            <a:avLst/>
          </a:prstGeom>
          <a:noFill/>
        </p:spPr>
        <p:txBody>
          <a:bodyPr wrap="square">
            <a:spAutoFit/>
          </a:bodyPr>
          <a:lstStyle/>
          <a:p>
            <a:pPr algn="l"/>
            <a:r>
              <a:rPr sz="1300" b="1" i="0">
                <a:solidFill>
                  <a:srgbClr val="7B5B00"/>
                </a:solidFill>
              </a:rPr>
              <a:t>★  Type inconsistency went UP with Zone 1 — richer context → more specific labels.
    This is expected and correct: Zone 3 Leiden clustering is designed to merge them.</a:t>
            </a:r>
          </a:p>
        </p:txBody>
      </p:sp>
      <p:sp>
        <p:nvSpPr>
          <p:cNvPr id="63" name="TextBox 62"/>
          <p:cNvSpPr txBox="1"/>
          <p:nvPr/>
        </p:nvSpPr>
        <p:spPr>
          <a:xfrm>
            <a:off x="274320" y="5806440"/>
            <a:ext cx="11430000" cy="365760"/>
          </a:xfrm>
          <a:prstGeom prst="rect">
            <a:avLst/>
          </a:prstGeom>
          <a:noFill/>
        </p:spPr>
        <p:txBody>
          <a:bodyPr wrap="square">
            <a:spAutoFit/>
          </a:bodyPr>
          <a:lstStyle/>
          <a:p>
            <a:pPr algn="l"/>
            <a:r>
              <a:rPr sz="1300" b="0" i="1">
                <a:solidFill>
                  <a:srgbClr val="555555"/>
                </a:solidFill>
              </a:rPr>
              <a:t>Both baseline runs: same LLMGraphTransformer extractor — only the chunking strategy differs.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97280"/>
          </a:xfrm>
          <a:prstGeom prst="rect">
            <a:avLst/>
          </a:prstGeom>
          <a:solidFill>
            <a:srgbClr val="002B7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137160"/>
            <a:ext cx="11430000" cy="914400"/>
          </a:xfrm>
          <a:prstGeom prst="rect">
            <a:avLst/>
          </a:prstGeom>
          <a:noFill/>
        </p:spPr>
        <p:txBody>
          <a:bodyPr wrap="square">
            <a:spAutoFit/>
          </a:bodyPr>
          <a:lstStyle/>
          <a:p>
            <a:pPr algn="l"/>
            <a:r>
              <a:rPr sz="3000" b="1" i="0">
                <a:solidFill>
                  <a:srgbClr val="FFFFFF"/>
                </a:solidFill>
              </a:rPr>
              <a:t>Key Finding: Zone 1 Chunking Impact</a:t>
            </a:r>
          </a:p>
        </p:txBody>
      </p:sp>
      <p:sp>
        <p:nvSpPr>
          <p:cNvPr id="4" name="Rectangle 3"/>
          <p:cNvSpPr/>
          <p:nvPr/>
        </p:nvSpPr>
        <p:spPr>
          <a:xfrm>
            <a:off x="0" y="1097280"/>
            <a:ext cx="12188952" cy="54864"/>
          </a:xfrm>
          <a:prstGeom prst="rect">
            <a:avLst/>
          </a:prstGeom>
          <a:solidFill>
            <a:srgbClr val="F2A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274320" y="1325880"/>
            <a:ext cx="5029200" cy="1920240"/>
          </a:xfrm>
          <a:prstGeom prst="rect">
            <a:avLst/>
          </a:prstGeom>
          <a:solidFill>
            <a:srgbClr val="E8F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17320"/>
            <a:ext cx="4663440" cy="1005840"/>
          </a:xfrm>
          <a:prstGeom prst="rect">
            <a:avLst/>
          </a:prstGeom>
          <a:noFill/>
        </p:spPr>
        <p:txBody>
          <a:bodyPr wrap="square">
            <a:spAutoFit/>
          </a:bodyPr>
          <a:lstStyle/>
          <a:p>
            <a:pPr algn="ctr"/>
            <a:r>
              <a:rPr sz="7200" b="1" i="0">
                <a:solidFill>
                  <a:srgbClr val="1B7F3B"/>
                </a:solidFill>
              </a:rPr>
              <a:t>+15%</a:t>
            </a:r>
          </a:p>
        </p:txBody>
      </p:sp>
      <p:sp>
        <p:nvSpPr>
          <p:cNvPr id="7" name="TextBox 6"/>
          <p:cNvSpPr txBox="1"/>
          <p:nvPr/>
        </p:nvSpPr>
        <p:spPr>
          <a:xfrm>
            <a:off x="457200" y="2423160"/>
            <a:ext cx="4663440" cy="731520"/>
          </a:xfrm>
          <a:prstGeom prst="rect">
            <a:avLst/>
          </a:prstGeom>
          <a:noFill/>
        </p:spPr>
        <p:txBody>
          <a:bodyPr wrap="square">
            <a:spAutoFit/>
          </a:bodyPr>
          <a:lstStyle/>
          <a:p>
            <a:pPr algn="ctr"/>
            <a:r>
              <a:rPr sz="1600" b="0" i="0">
                <a:solidFill>
                  <a:srgbClr val="1B7F3B"/>
                </a:solidFill>
              </a:rPr>
              <a:t>query accuracy gain
chunking strategy alone</a:t>
            </a:r>
          </a:p>
        </p:txBody>
      </p:sp>
      <p:sp>
        <p:nvSpPr>
          <p:cNvPr id="8" name="Rectangle 7"/>
          <p:cNvSpPr/>
          <p:nvPr/>
        </p:nvSpPr>
        <p:spPr>
          <a:xfrm>
            <a:off x="5760720" y="1325880"/>
            <a:ext cx="6126480" cy="1920240"/>
          </a:xfrm>
          <a:prstGeom prst="rect">
            <a:avLst/>
          </a:prstGeom>
          <a:solidFill>
            <a:srgbClr val="E3F2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0" y="1417320"/>
            <a:ext cx="5760720" cy="1005840"/>
          </a:xfrm>
          <a:prstGeom prst="rect">
            <a:avLst/>
          </a:prstGeom>
          <a:noFill/>
        </p:spPr>
        <p:txBody>
          <a:bodyPr wrap="square">
            <a:spAutoFit/>
          </a:bodyPr>
          <a:lstStyle/>
          <a:p>
            <a:pPr algn="ctr"/>
            <a:r>
              <a:rPr sz="5200" b="1" i="0">
                <a:solidFill>
                  <a:srgbClr val="002B7F"/>
                </a:solidFill>
              </a:rPr>
              <a:t>35% → 50%</a:t>
            </a:r>
          </a:p>
        </p:txBody>
      </p:sp>
      <p:sp>
        <p:nvSpPr>
          <p:cNvPr id="10" name="TextBox 9"/>
          <p:cNvSpPr txBox="1"/>
          <p:nvPr/>
        </p:nvSpPr>
        <p:spPr>
          <a:xfrm>
            <a:off x="5943600" y="2423160"/>
            <a:ext cx="5760720" cy="731520"/>
          </a:xfrm>
          <a:prstGeom prst="rect">
            <a:avLst/>
          </a:prstGeom>
          <a:noFill/>
        </p:spPr>
        <p:txBody>
          <a:bodyPr wrap="square">
            <a:spAutoFit/>
          </a:bodyPr>
          <a:lstStyle/>
          <a:p>
            <a:pPr algn="ctr"/>
            <a:r>
              <a:rPr sz="1400" b="0" i="0">
                <a:solidFill>
                  <a:srgbClr val="002B7F"/>
                </a:solidFill>
              </a:rPr>
              <a:t>baseline → baseline + Zone 1 chunking</a:t>
            </a:r>
          </a:p>
        </p:txBody>
      </p:sp>
      <p:sp>
        <p:nvSpPr>
          <p:cNvPr id="11" name="TextBox 10"/>
          <p:cNvSpPr txBox="1"/>
          <p:nvPr/>
        </p:nvSpPr>
        <p:spPr>
          <a:xfrm>
            <a:off x="274320" y="3429000"/>
            <a:ext cx="11430000" cy="365760"/>
          </a:xfrm>
          <a:prstGeom prst="rect">
            <a:avLst/>
          </a:prstGeom>
          <a:noFill/>
        </p:spPr>
        <p:txBody>
          <a:bodyPr wrap="square">
            <a:spAutoFit/>
          </a:bodyPr>
          <a:lstStyle/>
          <a:p>
            <a:pPr algn="l"/>
            <a:r>
              <a:rPr sz="1500" b="1" i="0">
                <a:solidFill>
                  <a:srgbClr val="2D2D2D"/>
                </a:solidFill>
              </a:rPr>
              <a:t>What changed between the two runs (same LLM, same extraction, different chunks):</a:t>
            </a:r>
          </a:p>
        </p:txBody>
      </p:sp>
      <p:sp>
        <p:nvSpPr>
          <p:cNvPr id="12" name="Rectangle 11"/>
          <p:cNvSpPr/>
          <p:nvPr/>
        </p:nvSpPr>
        <p:spPr>
          <a:xfrm>
            <a:off x="274320" y="3886200"/>
            <a:ext cx="502920" cy="329184"/>
          </a:xfrm>
          <a:prstGeom prst="rect">
            <a:avLst/>
          </a:prstGeom>
          <a:solidFill>
            <a:srgbClr val="1B7F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74320" y="3904487"/>
            <a:ext cx="502920" cy="310896"/>
          </a:xfrm>
          <a:prstGeom prst="rect">
            <a:avLst/>
          </a:prstGeom>
          <a:noFill/>
        </p:spPr>
        <p:txBody>
          <a:bodyPr wrap="square">
            <a:spAutoFit/>
          </a:bodyPr>
          <a:lstStyle/>
          <a:p>
            <a:pPr algn="ctr"/>
            <a:r>
              <a:rPr sz="1600" b="1" i="0">
                <a:solidFill>
                  <a:srgbClr val="FFFFFF"/>
                </a:solidFill>
              </a:rPr>
              <a:t>✓</a:t>
            </a:r>
          </a:p>
        </p:txBody>
      </p:sp>
      <p:sp>
        <p:nvSpPr>
          <p:cNvPr id="14" name="TextBox 13"/>
          <p:cNvSpPr txBox="1"/>
          <p:nvPr/>
        </p:nvSpPr>
        <p:spPr>
          <a:xfrm>
            <a:off x="868680" y="3886200"/>
            <a:ext cx="3657600" cy="182880"/>
          </a:xfrm>
          <a:prstGeom prst="rect">
            <a:avLst/>
          </a:prstGeom>
          <a:noFill/>
        </p:spPr>
        <p:txBody>
          <a:bodyPr wrap="square">
            <a:spAutoFit/>
          </a:bodyPr>
          <a:lstStyle/>
          <a:p>
            <a:pPr algn="l"/>
            <a:r>
              <a:rPr sz="1300" b="1" i="0">
                <a:solidFill>
                  <a:srgbClr val="1B7F3B"/>
                </a:solidFill>
              </a:rPr>
              <a:t>Task 5: Earth movement exclusion</a:t>
            </a:r>
          </a:p>
        </p:txBody>
      </p:sp>
      <p:sp>
        <p:nvSpPr>
          <p:cNvPr id="15" name="TextBox 14"/>
          <p:cNvSpPr txBox="1"/>
          <p:nvPr/>
        </p:nvSpPr>
        <p:spPr>
          <a:xfrm>
            <a:off x="868680" y="4069080"/>
            <a:ext cx="10972800" cy="182880"/>
          </a:xfrm>
          <a:prstGeom prst="rect">
            <a:avLst/>
          </a:prstGeom>
          <a:noFill/>
        </p:spPr>
        <p:txBody>
          <a:bodyPr wrap="square">
            <a:spAutoFit/>
          </a:bodyPr>
          <a:lstStyle/>
          <a:p>
            <a:pPr algn="l"/>
            <a:r>
              <a:rPr sz="1100" b="0" i="1">
                <a:solidFill>
                  <a:srgbClr val="555555"/>
                </a:solidFill>
              </a:rPr>
              <a:t>V. EXCLUSIONS kept intact → LLM saw complete exclusion list</a:t>
            </a:r>
          </a:p>
        </p:txBody>
      </p:sp>
      <p:sp>
        <p:nvSpPr>
          <p:cNvPr id="16" name="Rectangle 15"/>
          <p:cNvSpPr/>
          <p:nvPr/>
        </p:nvSpPr>
        <p:spPr>
          <a:xfrm>
            <a:off x="274320" y="4325112"/>
            <a:ext cx="502920" cy="329184"/>
          </a:xfrm>
          <a:prstGeom prst="rect">
            <a:avLst/>
          </a:prstGeom>
          <a:solidFill>
            <a:srgbClr val="1B7F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74320" y="4343400"/>
            <a:ext cx="502920" cy="310896"/>
          </a:xfrm>
          <a:prstGeom prst="rect">
            <a:avLst/>
          </a:prstGeom>
          <a:noFill/>
        </p:spPr>
        <p:txBody>
          <a:bodyPr wrap="square">
            <a:spAutoFit/>
          </a:bodyPr>
          <a:lstStyle/>
          <a:p>
            <a:pPr algn="ctr"/>
            <a:r>
              <a:rPr sz="1600" b="1" i="0">
                <a:solidFill>
                  <a:srgbClr val="FFFFFF"/>
                </a:solidFill>
              </a:rPr>
              <a:t>✓</a:t>
            </a:r>
          </a:p>
        </p:txBody>
      </p:sp>
      <p:sp>
        <p:nvSpPr>
          <p:cNvPr id="18" name="TextBox 17"/>
          <p:cNvSpPr txBox="1"/>
          <p:nvPr/>
        </p:nvSpPr>
        <p:spPr>
          <a:xfrm>
            <a:off x="868680" y="4325112"/>
            <a:ext cx="3657600" cy="182880"/>
          </a:xfrm>
          <a:prstGeom prst="rect">
            <a:avLst/>
          </a:prstGeom>
          <a:noFill/>
        </p:spPr>
        <p:txBody>
          <a:bodyPr wrap="square">
            <a:spAutoFit/>
          </a:bodyPr>
          <a:lstStyle/>
          <a:p>
            <a:pPr algn="l"/>
            <a:r>
              <a:rPr sz="1300" b="1" i="0">
                <a:solidFill>
                  <a:srgbClr val="1B7F3B"/>
                </a:solidFill>
              </a:rPr>
              <a:t>Task 12: Building definition</a:t>
            </a:r>
          </a:p>
        </p:txBody>
      </p:sp>
      <p:sp>
        <p:nvSpPr>
          <p:cNvPr id="19" name="TextBox 18"/>
          <p:cNvSpPr txBox="1"/>
          <p:nvPr/>
        </p:nvSpPr>
        <p:spPr>
          <a:xfrm>
            <a:off x="868680" y="4507992"/>
            <a:ext cx="10972800" cy="182880"/>
          </a:xfrm>
          <a:prstGeom prst="rect">
            <a:avLst/>
          </a:prstGeom>
          <a:noFill/>
        </p:spPr>
        <p:txBody>
          <a:bodyPr wrap="square">
            <a:spAutoFit/>
          </a:bodyPr>
          <a:lstStyle/>
          <a:p>
            <a:pPr algn="l"/>
            <a:r>
              <a:rPr sz="1100" b="0" i="1">
                <a:solidFill>
                  <a:srgbClr val="555555"/>
                </a:solidFill>
              </a:rPr>
              <a:t>II. DEFINITIONS section complete → full definition in one chunk</a:t>
            </a:r>
          </a:p>
        </p:txBody>
      </p:sp>
      <p:sp>
        <p:nvSpPr>
          <p:cNvPr id="20" name="Rectangle 19"/>
          <p:cNvSpPr/>
          <p:nvPr/>
        </p:nvSpPr>
        <p:spPr>
          <a:xfrm>
            <a:off x="274320" y="4764024"/>
            <a:ext cx="502920" cy="329184"/>
          </a:xfrm>
          <a:prstGeom prst="rect">
            <a:avLst/>
          </a:prstGeom>
          <a:solidFill>
            <a:srgbClr val="1B7F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74320" y="4782312"/>
            <a:ext cx="502920" cy="310896"/>
          </a:xfrm>
          <a:prstGeom prst="rect">
            <a:avLst/>
          </a:prstGeom>
          <a:noFill/>
        </p:spPr>
        <p:txBody>
          <a:bodyPr wrap="square">
            <a:spAutoFit/>
          </a:bodyPr>
          <a:lstStyle/>
          <a:p>
            <a:pPr algn="ctr"/>
            <a:r>
              <a:rPr sz="1600" b="1" i="0">
                <a:solidFill>
                  <a:srgbClr val="FFFFFF"/>
                </a:solidFill>
              </a:rPr>
              <a:t>✓</a:t>
            </a:r>
          </a:p>
        </p:txBody>
      </p:sp>
      <p:sp>
        <p:nvSpPr>
          <p:cNvPr id="22" name="TextBox 21"/>
          <p:cNvSpPr txBox="1"/>
          <p:nvPr/>
        </p:nvSpPr>
        <p:spPr>
          <a:xfrm>
            <a:off x="868680" y="4764024"/>
            <a:ext cx="3657600" cy="182880"/>
          </a:xfrm>
          <a:prstGeom prst="rect">
            <a:avLst/>
          </a:prstGeom>
          <a:noFill/>
        </p:spPr>
        <p:txBody>
          <a:bodyPr wrap="square">
            <a:spAutoFit/>
          </a:bodyPr>
          <a:lstStyle/>
          <a:p>
            <a:pPr algn="l"/>
            <a:r>
              <a:rPr sz="1300" b="1" i="0">
                <a:solidFill>
                  <a:srgbClr val="1B7F3B"/>
                </a:solidFill>
              </a:rPr>
              <a:t>Task 15: Coinsurance rule</a:t>
            </a:r>
          </a:p>
        </p:txBody>
      </p:sp>
      <p:sp>
        <p:nvSpPr>
          <p:cNvPr id="23" name="TextBox 22"/>
          <p:cNvSpPr txBox="1"/>
          <p:nvPr/>
        </p:nvSpPr>
        <p:spPr>
          <a:xfrm>
            <a:off x="868680" y="4946904"/>
            <a:ext cx="10972800" cy="182880"/>
          </a:xfrm>
          <a:prstGeom prst="rect">
            <a:avLst/>
          </a:prstGeom>
          <a:noFill/>
        </p:spPr>
        <p:txBody>
          <a:bodyPr wrap="square">
            <a:spAutoFit/>
          </a:bodyPr>
          <a:lstStyle/>
          <a:p>
            <a:pPr algn="l"/>
            <a:r>
              <a:rPr sz="1100" b="0" i="1">
                <a:solidFill>
                  <a:srgbClr val="555555"/>
                </a:solidFill>
              </a:rPr>
              <a:t>VII.B Other Insurance section complete → co-insurance rule visible</a:t>
            </a:r>
          </a:p>
        </p:txBody>
      </p:sp>
      <p:sp>
        <p:nvSpPr>
          <p:cNvPr id="24" name="Rectangle 23"/>
          <p:cNvSpPr/>
          <p:nvPr/>
        </p:nvSpPr>
        <p:spPr>
          <a:xfrm>
            <a:off x="274320" y="5202936"/>
            <a:ext cx="502920" cy="329184"/>
          </a:xfrm>
          <a:prstGeom prst="rect">
            <a:avLst/>
          </a:prstGeom>
          <a:solidFill>
            <a:srgbClr val="1B7F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274320" y="5221224"/>
            <a:ext cx="502920" cy="310896"/>
          </a:xfrm>
          <a:prstGeom prst="rect">
            <a:avLst/>
          </a:prstGeom>
          <a:noFill/>
        </p:spPr>
        <p:txBody>
          <a:bodyPr wrap="square">
            <a:spAutoFit/>
          </a:bodyPr>
          <a:lstStyle/>
          <a:p>
            <a:pPr algn="ctr"/>
            <a:r>
              <a:rPr sz="1600" b="1" i="0">
                <a:solidFill>
                  <a:srgbClr val="FFFFFF"/>
                </a:solidFill>
              </a:rPr>
              <a:t>✓</a:t>
            </a:r>
          </a:p>
        </p:txBody>
      </p:sp>
      <p:sp>
        <p:nvSpPr>
          <p:cNvPr id="26" name="TextBox 25"/>
          <p:cNvSpPr txBox="1"/>
          <p:nvPr/>
        </p:nvSpPr>
        <p:spPr>
          <a:xfrm>
            <a:off x="868680" y="5202936"/>
            <a:ext cx="3657600" cy="182880"/>
          </a:xfrm>
          <a:prstGeom prst="rect">
            <a:avLst/>
          </a:prstGeom>
          <a:noFill/>
        </p:spPr>
        <p:txBody>
          <a:bodyPr wrap="square">
            <a:spAutoFit/>
          </a:bodyPr>
          <a:lstStyle/>
          <a:p>
            <a:pPr algn="l"/>
            <a:r>
              <a:rPr sz="1300" b="1" i="0">
                <a:solidFill>
                  <a:srgbClr val="1B7F3B"/>
                </a:solidFill>
              </a:rPr>
              <a:t>Task 19: RCV determination</a:t>
            </a:r>
          </a:p>
        </p:txBody>
      </p:sp>
      <p:sp>
        <p:nvSpPr>
          <p:cNvPr id="27" name="TextBox 26"/>
          <p:cNvSpPr txBox="1"/>
          <p:nvPr/>
        </p:nvSpPr>
        <p:spPr>
          <a:xfrm>
            <a:off x="868680" y="5385816"/>
            <a:ext cx="10972800" cy="182880"/>
          </a:xfrm>
          <a:prstGeom prst="rect">
            <a:avLst/>
          </a:prstGeom>
          <a:noFill/>
        </p:spPr>
        <p:txBody>
          <a:bodyPr wrap="square">
            <a:spAutoFit/>
          </a:bodyPr>
          <a:lstStyle/>
          <a:p>
            <a:pPr algn="l"/>
            <a:r>
              <a:rPr sz="1100" b="0" i="1">
                <a:solidFill>
                  <a:srgbClr val="555555"/>
                </a:solidFill>
              </a:rPr>
              <a:t>VII.R Loss Settlement complete → replacement cost value captured</a:t>
            </a:r>
          </a:p>
        </p:txBody>
      </p:sp>
      <p:sp>
        <p:nvSpPr>
          <p:cNvPr id="28" name="Rectangle 27"/>
          <p:cNvSpPr/>
          <p:nvPr/>
        </p:nvSpPr>
        <p:spPr>
          <a:xfrm>
            <a:off x="274320" y="5687568"/>
            <a:ext cx="502920" cy="329184"/>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274320" y="5705856"/>
            <a:ext cx="502920" cy="310896"/>
          </a:xfrm>
          <a:prstGeom prst="rect">
            <a:avLst/>
          </a:prstGeom>
          <a:noFill/>
        </p:spPr>
        <p:txBody>
          <a:bodyPr wrap="square">
            <a:spAutoFit/>
          </a:bodyPr>
          <a:lstStyle/>
          <a:p>
            <a:pPr algn="ctr"/>
            <a:r>
              <a:rPr sz="1600" b="1" i="0">
                <a:solidFill>
                  <a:srgbClr val="FFFFFF"/>
                </a:solidFill>
              </a:rPr>
              <a:t>✗</a:t>
            </a:r>
          </a:p>
        </p:txBody>
      </p:sp>
      <p:sp>
        <p:nvSpPr>
          <p:cNvPr id="30" name="TextBox 29"/>
          <p:cNvSpPr txBox="1"/>
          <p:nvPr/>
        </p:nvSpPr>
        <p:spPr>
          <a:xfrm>
            <a:off x="868680" y="5687568"/>
            <a:ext cx="4572000" cy="182880"/>
          </a:xfrm>
          <a:prstGeom prst="rect">
            <a:avLst/>
          </a:prstGeom>
          <a:noFill/>
        </p:spPr>
        <p:txBody>
          <a:bodyPr wrap="square">
            <a:spAutoFit/>
          </a:bodyPr>
          <a:lstStyle/>
          <a:p>
            <a:pPr algn="l"/>
            <a:r>
              <a:rPr sz="1300" b="1" i="0">
                <a:solidFill>
                  <a:srgbClr val="C0392B"/>
                </a:solidFill>
              </a:rPr>
              <a:t>Task 10: Proof-of-loss deadline</a:t>
            </a:r>
          </a:p>
        </p:txBody>
      </p:sp>
      <p:sp>
        <p:nvSpPr>
          <p:cNvPr id="31" name="TextBox 30"/>
          <p:cNvSpPr txBox="1"/>
          <p:nvPr/>
        </p:nvSpPr>
        <p:spPr>
          <a:xfrm>
            <a:off x="868680" y="5870448"/>
            <a:ext cx="10972800" cy="182880"/>
          </a:xfrm>
          <a:prstGeom prst="rect">
            <a:avLst/>
          </a:prstGeom>
          <a:noFill/>
        </p:spPr>
        <p:txBody>
          <a:bodyPr wrap="square">
            <a:spAutoFit/>
          </a:bodyPr>
          <a:lstStyle/>
          <a:p>
            <a:pPr algn="l"/>
            <a:r>
              <a:rPr sz="1100" b="0" i="1">
                <a:solidFill>
                  <a:srgbClr val="555555"/>
                </a:solidFill>
              </a:rPr>
              <a:t>Was a lucky keyword hit ('proof of loss') in original; Zone1 chunk returns 1 row without matching keywords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97280"/>
          </a:xfrm>
          <a:prstGeom prst="rect">
            <a:avLst/>
          </a:prstGeom>
          <a:solidFill>
            <a:srgbClr val="002B7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137160"/>
            <a:ext cx="11430000" cy="914400"/>
          </a:xfrm>
          <a:prstGeom prst="rect">
            <a:avLst/>
          </a:prstGeom>
          <a:noFill/>
        </p:spPr>
        <p:txBody>
          <a:bodyPr wrap="square">
            <a:spAutoFit/>
          </a:bodyPr>
          <a:lstStyle/>
          <a:p>
            <a:pPr algn="l"/>
            <a:r>
              <a:rPr sz="2600" b="1" i="0">
                <a:solidFill>
                  <a:srgbClr val="FFFFFF"/>
                </a:solidFill>
              </a:rPr>
              <a:t>What the Baseline Reveals (Why Our Novel Pipeline Matters)</a:t>
            </a:r>
          </a:p>
        </p:txBody>
      </p:sp>
      <p:sp>
        <p:nvSpPr>
          <p:cNvPr id="4" name="Rectangle 3"/>
          <p:cNvSpPr/>
          <p:nvPr/>
        </p:nvSpPr>
        <p:spPr>
          <a:xfrm>
            <a:off x="0" y="1097280"/>
            <a:ext cx="12188952" cy="54864"/>
          </a:xfrm>
          <a:prstGeom prst="rect">
            <a:avLst/>
          </a:prstGeom>
          <a:solidFill>
            <a:srgbClr val="F2A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82880" y="1298448"/>
            <a:ext cx="11704320" cy="822960"/>
          </a:xfrm>
          <a:prstGeom prst="rect">
            <a:avLst/>
          </a:prstGeom>
          <a:solidFill>
            <a:srgbClr val="F8F8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82880" y="1298448"/>
            <a:ext cx="164592" cy="822960"/>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1344168"/>
            <a:ext cx="11247120" cy="274320"/>
          </a:xfrm>
          <a:prstGeom prst="rect">
            <a:avLst/>
          </a:prstGeom>
          <a:noFill/>
        </p:spPr>
        <p:txBody>
          <a:bodyPr wrap="square">
            <a:spAutoFit/>
          </a:bodyPr>
          <a:lstStyle/>
          <a:p>
            <a:pPr algn="l"/>
            <a:r>
              <a:rPr sz="1400" b="1" i="0">
                <a:solidFill>
                  <a:srgbClr val="C0392B"/>
                </a:solidFill>
              </a:rPr>
              <a:t>✗  Query accuracy capped at 50%</a:t>
            </a:r>
          </a:p>
        </p:txBody>
      </p:sp>
      <p:sp>
        <p:nvSpPr>
          <p:cNvPr id="8" name="TextBox 7"/>
          <p:cNvSpPr txBox="1"/>
          <p:nvPr/>
        </p:nvSpPr>
        <p:spPr>
          <a:xfrm>
            <a:off x="457200" y="1627631"/>
            <a:ext cx="11247120" cy="438912"/>
          </a:xfrm>
          <a:prstGeom prst="rect">
            <a:avLst/>
          </a:prstGeom>
          <a:noFill/>
        </p:spPr>
        <p:txBody>
          <a:bodyPr wrap="square">
            <a:spAutoFit/>
          </a:bodyPr>
          <a:lstStyle/>
          <a:p>
            <a:pPr algn="l"/>
            <a:r>
              <a:rPr sz="1200" b="0" i="0">
                <a:solidFill>
                  <a:srgbClr val="555555"/>
                </a:solidFill>
              </a:rPr>
              <a:t>Even with perfect section-aware chunks, LLMGraphTransformer misses numerical facts
(coverage limits), negation (exclusions), and procedural knowledge (claims process).</a:t>
            </a:r>
          </a:p>
        </p:txBody>
      </p:sp>
      <p:sp>
        <p:nvSpPr>
          <p:cNvPr id="9" name="Rectangle 8"/>
          <p:cNvSpPr/>
          <p:nvPr/>
        </p:nvSpPr>
        <p:spPr>
          <a:xfrm>
            <a:off x="182880" y="2212848"/>
            <a:ext cx="11704320" cy="822960"/>
          </a:xfrm>
          <a:prstGeom prst="rect">
            <a:avLst/>
          </a:prstGeom>
          <a:solidFill>
            <a:srgbClr val="F8F8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82880" y="2212848"/>
            <a:ext cx="164592" cy="822960"/>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 y="2258568"/>
            <a:ext cx="11247120" cy="274320"/>
          </a:xfrm>
          <a:prstGeom prst="rect">
            <a:avLst/>
          </a:prstGeom>
          <a:noFill/>
        </p:spPr>
        <p:txBody>
          <a:bodyPr wrap="square">
            <a:spAutoFit/>
          </a:bodyPr>
          <a:lstStyle/>
          <a:p>
            <a:pPr algn="l"/>
            <a:r>
              <a:rPr sz="1400" b="1" i="0">
                <a:solidFill>
                  <a:srgbClr val="C0392B"/>
                </a:solidFill>
              </a:rPr>
              <a:t>✗  Type proliferation — 44 labels for ~10 real concepts</a:t>
            </a:r>
          </a:p>
        </p:txBody>
      </p:sp>
      <p:sp>
        <p:nvSpPr>
          <p:cNvPr id="12" name="TextBox 11"/>
          <p:cNvSpPr txBox="1"/>
          <p:nvPr/>
        </p:nvSpPr>
        <p:spPr>
          <a:xfrm>
            <a:off x="457200" y="2542032"/>
            <a:ext cx="11247120" cy="438912"/>
          </a:xfrm>
          <a:prstGeom prst="rect">
            <a:avLst/>
          </a:prstGeom>
          <a:noFill/>
        </p:spPr>
        <p:txBody>
          <a:bodyPr wrap="square">
            <a:spAutoFit/>
          </a:bodyPr>
          <a:lstStyle/>
          <a:p>
            <a:pPr algn="l"/>
            <a:r>
              <a:rPr sz="1200" b="0" i="0">
                <a:solidFill>
                  <a:srgbClr val="555555"/>
                </a:solidFill>
              </a:rPr>
              <a:t>LLM invents new labels per chunk: Policy / Policy action / Policy feature / Policy type / Policy clause.
→ Zone 3 Leiden clustering will merge all 5 into one canonical :InsurancePolicy class.</a:t>
            </a:r>
          </a:p>
        </p:txBody>
      </p:sp>
      <p:sp>
        <p:nvSpPr>
          <p:cNvPr id="13" name="Rectangle 12"/>
          <p:cNvSpPr/>
          <p:nvPr/>
        </p:nvSpPr>
        <p:spPr>
          <a:xfrm>
            <a:off x="182880" y="3127248"/>
            <a:ext cx="11704320" cy="822960"/>
          </a:xfrm>
          <a:prstGeom prst="rect">
            <a:avLst/>
          </a:prstGeom>
          <a:solidFill>
            <a:srgbClr val="F8F8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182880" y="3127248"/>
            <a:ext cx="164592" cy="822960"/>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 y="3172968"/>
            <a:ext cx="11247120" cy="274320"/>
          </a:xfrm>
          <a:prstGeom prst="rect">
            <a:avLst/>
          </a:prstGeom>
          <a:noFill/>
        </p:spPr>
        <p:txBody>
          <a:bodyPr wrap="square">
            <a:spAutoFit/>
          </a:bodyPr>
          <a:lstStyle/>
          <a:p>
            <a:pPr algn="l"/>
            <a:r>
              <a:rPr sz="1400" b="1" i="0">
                <a:solidFill>
                  <a:srgbClr val="C0392B"/>
                </a:solidFill>
              </a:rPr>
              <a:t>✗  No structured exclusions / negation</a:t>
            </a:r>
          </a:p>
        </p:txBody>
      </p:sp>
      <p:sp>
        <p:nvSpPr>
          <p:cNvPr id="16" name="TextBox 15"/>
          <p:cNvSpPr txBox="1"/>
          <p:nvPr/>
        </p:nvSpPr>
        <p:spPr>
          <a:xfrm>
            <a:off x="457200" y="3456432"/>
            <a:ext cx="11247120" cy="438912"/>
          </a:xfrm>
          <a:prstGeom prst="rect">
            <a:avLst/>
          </a:prstGeom>
          <a:noFill/>
        </p:spPr>
        <p:txBody>
          <a:bodyPr wrap="square">
            <a:spAutoFit/>
          </a:bodyPr>
          <a:lstStyle/>
          <a:p>
            <a:pPr algn="l"/>
            <a:r>
              <a:rPr sz="1200" b="0" i="0">
                <a:solidFill>
                  <a:srgbClr val="555555"/>
                </a:solidFill>
              </a:rPr>
              <a:t>Tasks 4, 5, 18 consistently fail — 'NOT INSURED' text is not captured as a typed relationship.
→ Zone 2 Open IE will use explicit prompts to extract EXCLUDED_FROM triples.</a:t>
            </a:r>
          </a:p>
        </p:txBody>
      </p:sp>
      <p:sp>
        <p:nvSpPr>
          <p:cNvPr id="17" name="Rectangle 16"/>
          <p:cNvSpPr/>
          <p:nvPr/>
        </p:nvSpPr>
        <p:spPr>
          <a:xfrm>
            <a:off x="182880" y="4041648"/>
            <a:ext cx="11704320" cy="822960"/>
          </a:xfrm>
          <a:prstGeom prst="rect">
            <a:avLst/>
          </a:prstGeom>
          <a:solidFill>
            <a:srgbClr val="F8F8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182880" y="4041648"/>
            <a:ext cx="164592" cy="822960"/>
          </a:xfrm>
          <a:prstGeom prst="rect">
            <a:avLst/>
          </a:prstGeom>
          <a:solidFill>
            <a:srgbClr val="1B7F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7200" y="4087368"/>
            <a:ext cx="11247120" cy="274320"/>
          </a:xfrm>
          <a:prstGeom prst="rect">
            <a:avLst/>
          </a:prstGeom>
          <a:noFill/>
        </p:spPr>
        <p:txBody>
          <a:bodyPr wrap="square">
            <a:spAutoFit/>
          </a:bodyPr>
          <a:lstStyle/>
          <a:p>
            <a:pPr algn="l"/>
            <a:r>
              <a:rPr sz="1400" b="1" i="0">
                <a:solidFill>
                  <a:srgbClr val="1B7F3B"/>
                </a:solidFill>
              </a:rPr>
              <a:t>✓  Section-aware chunks give LLM coherent context</a:t>
            </a:r>
          </a:p>
        </p:txBody>
      </p:sp>
      <p:sp>
        <p:nvSpPr>
          <p:cNvPr id="20" name="TextBox 19"/>
          <p:cNvSpPr txBox="1"/>
          <p:nvPr/>
        </p:nvSpPr>
        <p:spPr>
          <a:xfrm>
            <a:off x="457200" y="4370832"/>
            <a:ext cx="11247120" cy="438912"/>
          </a:xfrm>
          <a:prstGeom prst="rect">
            <a:avLst/>
          </a:prstGeom>
          <a:noFill/>
        </p:spPr>
        <p:txBody>
          <a:bodyPr wrap="square">
            <a:spAutoFit/>
          </a:bodyPr>
          <a:lstStyle/>
          <a:p>
            <a:pPr algn="l"/>
            <a:r>
              <a:rPr sz="1200" b="0" i="0">
                <a:solidFill>
                  <a:srgbClr val="555555"/>
                </a:solidFill>
              </a:rPr>
              <a:t>+15% accuracy from Zone 1 alone confirms that chunking quality directly impacts extraction quality.</a:t>
            </a:r>
          </a:p>
        </p:txBody>
      </p:sp>
      <p:sp>
        <p:nvSpPr>
          <p:cNvPr id="21" name="Rectangle 20"/>
          <p:cNvSpPr/>
          <p:nvPr/>
        </p:nvSpPr>
        <p:spPr>
          <a:xfrm>
            <a:off x="182880" y="4956048"/>
            <a:ext cx="11704320" cy="822960"/>
          </a:xfrm>
          <a:prstGeom prst="rect">
            <a:avLst/>
          </a:prstGeom>
          <a:solidFill>
            <a:srgbClr val="F8F8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82880" y="4956048"/>
            <a:ext cx="164592" cy="822960"/>
          </a:xfrm>
          <a:prstGeom prst="rect">
            <a:avLst/>
          </a:prstGeom>
          <a:solidFill>
            <a:srgbClr val="1B7F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57200" y="5001768"/>
            <a:ext cx="11247120" cy="274320"/>
          </a:xfrm>
          <a:prstGeom prst="rect">
            <a:avLst/>
          </a:prstGeom>
          <a:noFill/>
        </p:spPr>
        <p:txBody>
          <a:bodyPr wrap="square">
            <a:spAutoFit/>
          </a:bodyPr>
          <a:lstStyle/>
          <a:p>
            <a:pPr algn="l"/>
            <a:r>
              <a:rPr sz="1400" b="1" i="0">
                <a:solidFill>
                  <a:srgbClr val="1B7F3B"/>
                </a:solidFill>
              </a:rPr>
              <a:t>✓  Baseline numbers are our Table 1 comparison row</a:t>
            </a:r>
          </a:p>
        </p:txBody>
      </p:sp>
      <p:sp>
        <p:nvSpPr>
          <p:cNvPr id="24" name="TextBox 23"/>
          <p:cNvSpPr txBox="1"/>
          <p:nvPr/>
        </p:nvSpPr>
        <p:spPr>
          <a:xfrm>
            <a:off x="457200" y="5285232"/>
            <a:ext cx="11247120" cy="438912"/>
          </a:xfrm>
          <a:prstGeom prst="rect">
            <a:avLst/>
          </a:prstGeom>
          <a:noFill/>
        </p:spPr>
        <p:txBody>
          <a:bodyPr wrap="square">
            <a:spAutoFit/>
          </a:bodyPr>
          <a:lstStyle/>
          <a:p>
            <a:pPr algn="l"/>
            <a:r>
              <a:rPr sz="1200" b="0" i="0">
                <a:solidFill>
                  <a:srgbClr val="555555"/>
                </a:solidFill>
              </a:rPr>
              <a:t>35% (original) / 50% (+ Zone1) are the documented starting points we need to beat.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97280"/>
          </a:xfrm>
          <a:prstGeom prst="rect">
            <a:avLst/>
          </a:prstGeom>
          <a:solidFill>
            <a:srgbClr val="002B7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137160"/>
            <a:ext cx="11430000" cy="914400"/>
          </a:xfrm>
          <a:prstGeom prst="rect">
            <a:avLst/>
          </a:prstGeom>
          <a:noFill/>
        </p:spPr>
        <p:txBody>
          <a:bodyPr wrap="square">
            <a:spAutoFit/>
          </a:bodyPr>
          <a:lstStyle/>
          <a:p>
            <a:pPr algn="l"/>
            <a:r>
              <a:rPr sz="3000" b="1" i="0">
                <a:solidFill>
                  <a:srgbClr val="FFFFFF"/>
                </a:solidFill>
              </a:rPr>
              <a:t>Next Steps: Novel Pipeline (Weeks 4–7)</a:t>
            </a:r>
          </a:p>
        </p:txBody>
      </p:sp>
      <p:sp>
        <p:nvSpPr>
          <p:cNvPr id="4" name="Rectangle 3"/>
          <p:cNvSpPr/>
          <p:nvPr/>
        </p:nvSpPr>
        <p:spPr>
          <a:xfrm>
            <a:off x="0" y="1097280"/>
            <a:ext cx="12188952" cy="54864"/>
          </a:xfrm>
          <a:prstGeom prst="rect">
            <a:avLst/>
          </a:prstGeom>
          <a:solidFill>
            <a:srgbClr val="F2A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82880" y="1325880"/>
            <a:ext cx="11704320" cy="320040"/>
          </a:xfrm>
          <a:prstGeom prst="rect">
            <a:avLst/>
          </a:prstGeom>
          <a:solidFill>
            <a:srgbClr val="156E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20040" y="1371600"/>
            <a:ext cx="11430000" cy="246888"/>
          </a:xfrm>
          <a:prstGeom prst="rect">
            <a:avLst/>
          </a:prstGeom>
          <a:noFill/>
        </p:spPr>
        <p:txBody>
          <a:bodyPr wrap="square">
            <a:spAutoFit/>
          </a:bodyPr>
          <a:lstStyle/>
          <a:p>
            <a:pPr algn="l"/>
            <a:r>
              <a:rPr sz="1500" b="1" i="0">
                <a:solidFill>
                  <a:srgbClr val="FFFFFF"/>
                </a:solidFill>
              </a:rPr>
              <a:t>Zone 2 — Open IE  (next)</a:t>
            </a:r>
          </a:p>
        </p:txBody>
      </p:sp>
      <p:sp>
        <p:nvSpPr>
          <p:cNvPr id="7" name="TextBox 6"/>
          <p:cNvSpPr txBox="1"/>
          <p:nvPr/>
        </p:nvSpPr>
        <p:spPr>
          <a:xfrm>
            <a:off x="365760" y="1673352"/>
            <a:ext cx="11430000" cy="292608"/>
          </a:xfrm>
          <a:prstGeom prst="rect">
            <a:avLst/>
          </a:prstGeom>
          <a:noFill/>
        </p:spPr>
        <p:txBody>
          <a:bodyPr wrap="square">
            <a:spAutoFit/>
          </a:bodyPr>
          <a:lstStyle/>
          <a:p>
            <a:pPr algn="l"/>
            <a:r>
              <a:rPr sz="1300" b="0" i="0">
                <a:solidFill>
                  <a:srgbClr val="2D2D2D"/>
                </a:solidFill>
              </a:rPr>
              <a:t>    •  Few-shot prompt Llama 3.1 8B → {subject, relation, object, confidence}</a:t>
            </a:r>
          </a:p>
        </p:txBody>
      </p:sp>
      <p:sp>
        <p:nvSpPr>
          <p:cNvPr id="8" name="TextBox 7"/>
          <p:cNvSpPr txBox="1"/>
          <p:nvPr/>
        </p:nvSpPr>
        <p:spPr>
          <a:xfrm>
            <a:off x="365760" y="1965960"/>
            <a:ext cx="11430000" cy="292608"/>
          </a:xfrm>
          <a:prstGeom prst="rect">
            <a:avLst/>
          </a:prstGeom>
          <a:noFill/>
        </p:spPr>
        <p:txBody>
          <a:bodyPr wrap="square">
            <a:spAutoFit/>
          </a:bodyPr>
          <a:lstStyle/>
          <a:p>
            <a:pPr algn="l"/>
            <a:r>
              <a:rPr sz="1300" b="0" i="0">
                <a:solidFill>
                  <a:srgbClr val="2D2D2D"/>
                </a:solidFill>
              </a:rPr>
              <a:t>    •  Quality filters: confidence &gt; 0.7 | reject generic rels: has, is, contains</a:t>
            </a:r>
          </a:p>
        </p:txBody>
      </p:sp>
      <p:sp>
        <p:nvSpPr>
          <p:cNvPr id="9" name="TextBox 8"/>
          <p:cNvSpPr txBox="1"/>
          <p:nvPr/>
        </p:nvSpPr>
        <p:spPr>
          <a:xfrm>
            <a:off x="365760" y="2258568"/>
            <a:ext cx="11430000" cy="292608"/>
          </a:xfrm>
          <a:prstGeom prst="rect">
            <a:avLst/>
          </a:prstGeom>
          <a:noFill/>
        </p:spPr>
        <p:txBody>
          <a:bodyPr wrap="square">
            <a:spAutoFit/>
          </a:bodyPr>
          <a:lstStyle/>
          <a:p>
            <a:pPr algn="l"/>
            <a:r>
              <a:rPr sz="1300" b="0" i="0">
                <a:solidFill>
                  <a:srgbClr val="2D2D2D"/>
                </a:solidFill>
              </a:rPr>
              <a:t>    •  Entity/Event distinction: Policy (entity) vs. Filed (event → typed relation)</a:t>
            </a:r>
          </a:p>
        </p:txBody>
      </p:sp>
      <p:sp>
        <p:nvSpPr>
          <p:cNvPr id="10" name="TextBox 9"/>
          <p:cNvSpPr txBox="1"/>
          <p:nvPr/>
        </p:nvSpPr>
        <p:spPr>
          <a:xfrm>
            <a:off x="365760" y="2551175"/>
            <a:ext cx="11430000" cy="292608"/>
          </a:xfrm>
          <a:prstGeom prst="rect">
            <a:avLst/>
          </a:prstGeom>
          <a:noFill/>
        </p:spPr>
        <p:txBody>
          <a:bodyPr wrap="square">
            <a:spAutoFit/>
          </a:bodyPr>
          <a:lstStyle/>
          <a:p>
            <a:pPr algn="l"/>
            <a:r>
              <a:rPr sz="1300" b="0" i="0">
                <a:solidFill>
                  <a:srgbClr val="2D2D2D"/>
                </a:solidFill>
              </a:rPr>
              <a:t>    •  Expected: cleaner triples, fewer spurious nodes, better query accuracy</a:t>
            </a:r>
          </a:p>
        </p:txBody>
      </p:sp>
      <p:sp>
        <p:nvSpPr>
          <p:cNvPr id="11" name="Rectangle 10"/>
          <p:cNvSpPr/>
          <p:nvPr/>
        </p:nvSpPr>
        <p:spPr>
          <a:xfrm>
            <a:off x="182880" y="2980943"/>
            <a:ext cx="11704320" cy="32004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20040" y="3026663"/>
            <a:ext cx="11430000" cy="246888"/>
          </a:xfrm>
          <a:prstGeom prst="rect">
            <a:avLst/>
          </a:prstGeom>
          <a:noFill/>
        </p:spPr>
        <p:txBody>
          <a:bodyPr wrap="square">
            <a:spAutoFit/>
          </a:bodyPr>
          <a:lstStyle/>
          <a:p>
            <a:pPr algn="l"/>
            <a:r>
              <a:rPr sz="1500" b="1" i="0">
                <a:solidFill>
                  <a:srgbClr val="FFFFFF"/>
                </a:solidFill>
              </a:rPr>
              <a:t>Zone 3 — Ontology Induction</a:t>
            </a:r>
          </a:p>
        </p:txBody>
      </p:sp>
      <p:sp>
        <p:nvSpPr>
          <p:cNvPr id="13" name="TextBox 12"/>
          <p:cNvSpPr txBox="1"/>
          <p:nvPr/>
        </p:nvSpPr>
        <p:spPr>
          <a:xfrm>
            <a:off x="365760" y="3328415"/>
            <a:ext cx="11430000" cy="292608"/>
          </a:xfrm>
          <a:prstGeom prst="rect">
            <a:avLst/>
          </a:prstGeom>
          <a:noFill/>
        </p:spPr>
        <p:txBody>
          <a:bodyPr wrap="square">
            <a:spAutoFit/>
          </a:bodyPr>
          <a:lstStyle/>
          <a:p>
            <a:pPr algn="l"/>
            <a:r>
              <a:rPr sz="1300" b="0" i="0">
                <a:solidFill>
                  <a:srgbClr val="2D2D2D"/>
                </a:solidFill>
              </a:rPr>
              <a:t>    •  Entity resolution: string similarity + embedding cosine (threshold 0.92)</a:t>
            </a:r>
          </a:p>
        </p:txBody>
      </p:sp>
      <p:sp>
        <p:nvSpPr>
          <p:cNvPr id="14" name="TextBox 13"/>
          <p:cNvSpPr txBox="1"/>
          <p:nvPr/>
        </p:nvSpPr>
        <p:spPr>
          <a:xfrm>
            <a:off x="365760" y="3621023"/>
            <a:ext cx="11430000" cy="292608"/>
          </a:xfrm>
          <a:prstGeom prst="rect">
            <a:avLst/>
          </a:prstGeom>
          <a:noFill/>
        </p:spPr>
        <p:txBody>
          <a:bodyPr wrap="square">
            <a:spAutoFit/>
          </a:bodyPr>
          <a:lstStyle/>
          <a:p>
            <a:pPr algn="l"/>
            <a:r>
              <a:rPr sz="1300" b="0" i="0">
                <a:solidFill>
                  <a:srgbClr val="2D2D2D"/>
                </a:solidFill>
              </a:rPr>
              <a:t>    •  Leiden community detection on type-similarity graph</a:t>
            </a:r>
          </a:p>
        </p:txBody>
      </p:sp>
      <p:sp>
        <p:nvSpPr>
          <p:cNvPr id="15" name="TextBox 14"/>
          <p:cNvSpPr txBox="1"/>
          <p:nvPr/>
        </p:nvSpPr>
        <p:spPr>
          <a:xfrm>
            <a:off x="365760" y="3913631"/>
            <a:ext cx="11430000" cy="292608"/>
          </a:xfrm>
          <a:prstGeom prst="rect">
            <a:avLst/>
          </a:prstGeom>
          <a:noFill/>
        </p:spPr>
        <p:txBody>
          <a:bodyPr wrap="square">
            <a:spAutoFit/>
          </a:bodyPr>
          <a:lstStyle/>
          <a:p>
            <a:pPr algn="l"/>
            <a:r>
              <a:rPr sz="1300" b="0" i="0">
                <a:solidFill>
                  <a:srgbClr val="2D2D2D"/>
                </a:solidFill>
              </a:rPr>
              <a:t>    •  LLM names abstract classes, infers SUBCLASS_OF hierarchy</a:t>
            </a:r>
          </a:p>
        </p:txBody>
      </p:sp>
      <p:sp>
        <p:nvSpPr>
          <p:cNvPr id="16" name="TextBox 15"/>
          <p:cNvSpPr txBox="1"/>
          <p:nvPr/>
        </p:nvSpPr>
        <p:spPr>
          <a:xfrm>
            <a:off x="365760" y="4206240"/>
            <a:ext cx="11430000" cy="292608"/>
          </a:xfrm>
          <a:prstGeom prst="rect">
            <a:avLst/>
          </a:prstGeom>
          <a:noFill/>
        </p:spPr>
        <p:txBody>
          <a:bodyPr wrap="square">
            <a:spAutoFit/>
          </a:bodyPr>
          <a:lstStyle/>
          <a:p>
            <a:pPr algn="l"/>
            <a:r>
              <a:rPr sz="1300" b="0" i="0">
                <a:solidFill>
                  <a:srgbClr val="2D2D2D"/>
                </a:solidFill>
              </a:rPr>
              <a:t>    •  Target: 20–30 canonical classes from ~44 raw labels</a:t>
            </a:r>
          </a:p>
        </p:txBody>
      </p:sp>
      <p:sp>
        <p:nvSpPr>
          <p:cNvPr id="17" name="Rectangle 16"/>
          <p:cNvSpPr/>
          <p:nvPr/>
        </p:nvSpPr>
        <p:spPr>
          <a:xfrm>
            <a:off x="182880" y="4636008"/>
            <a:ext cx="11704320" cy="320040"/>
          </a:xfrm>
          <a:prstGeom prst="rect">
            <a:avLst/>
          </a:prstGeom>
          <a:solidFill>
            <a:srgbClr val="6B35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20040" y="4681728"/>
            <a:ext cx="11430000" cy="246888"/>
          </a:xfrm>
          <a:prstGeom prst="rect">
            <a:avLst/>
          </a:prstGeom>
          <a:noFill/>
        </p:spPr>
        <p:txBody>
          <a:bodyPr wrap="square">
            <a:spAutoFit/>
          </a:bodyPr>
          <a:lstStyle/>
          <a:p>
            <a:pPr algn="l"/>
            <a:r>
              <a:rPr sz="1500" b="1" i="0">
                <a:solidFill>
                  <a:srgbClr val="FFFFFF"/>
                </a:solidFill>
              </a:rPr>
              <a:t>Zone 3b — Cross-Domain Extension  (Weeks 8–9)</a:t>
            </a:r>
          </a:p>
        </p:txBody>
      </p:sp>
      <p:sp>
        <p:nvSpPr>
          <p:cNvPr id="19" name="TextBox 18"/>
          <p:cNvSpPr txBox="1"/>
          <p:nvPr/>
        </p:nvSpPr>
        <p:spPr>
          <a:xfrm>
            <a:off x="365760" y="4983480"/>
            <a:ext cx="11430000" cy="292608"/>
          </a:xfrm>
          <a:prstGeom prst="rect">
            <a:avLst/>
          </a:prstGeom>
          <a:noFill/>
        </p:spPr>
        <p:txBody>
          <a:bodyPr wrap="square">
            <a:spAutoFit/>
          </a:bodyPr>
          <a:lstStyle/>
          <a:p>
            <a:pPr algn="l"/>
            <a:r>
              <a:rPr sz="1300" b="0" i="0">
                <a:solidFill>
                  <a:srgbClr val="2D2D2D"/>
                </a:solidFill>
              </a:rPr>
              <a:t>    •  Induce auto insurance ontology independently from Kaggle data</a:t>
            </a:r>
          </a:p>
        </p:txBody>
      </p:sp>
      <p:sp>
        <p:nvSpPr>
          <p:cNvPr id="20" name="TextBox 19"/>
          <p:cNvSpPr txBox="1"/>
          <p:nvPr/>
        </p:nvSpPr>
        <p:spPr>
          <a:xfrm>
            <a:off x="365760" y="5276088"/>
            <a:ext cx="11430000" cy="292608"/>
          </a:xfrm>
          <a:prstGeom prst="rect">
            <a:avLst/>
          </a:prstGeom>
          <a:noFill/>
        </p:spPr>
        <p:txBody>
          <a:bodyPr wrap="square">
            <a:spAutoFit/>
          </a:bodyPr>
          <a:lstStyle/>
          <a:p>
            <a:pPr algn="l"/>
            <a:r>
              <a:rPr sz="1300" b="0" i="0">
                <a:solidFill>
                  <a:srgbClr val="2D2D2D"/>
                </a:solidFill>
              </a:rPr>
              <a:t>    •  Match auto classes to flood ontology (DIRECT_REUSE / SUBCLASS / SIBLING / NEW_BRANCH)</a:t>
            </a:r>
          </a:p>
        </p:txBody>
      </p:sp>
      <p:sp>
        <p:nvSpPr>
          <p:cNvPr id="21" name="TextBox 20"/>
          <p:cNvSpPr txBox="1"/>
          <p:nvPr/>
        </p:nvSpPr>
        <p:spPr>
          <a:xfrm>
            <a:off x="365760" y="5568696"/>
            <a:ext cx="11430000" cy="292608"/>
          </a:xfrm>
          <a:prstGeom prst="rect">
            <a:avLst/>
          </a:prstGeom>
          <a:noFill/>
        </p:spPr>
        <p:txBody>
          <a:bodyPr wrap="square">
            <a:spAutoFit/>
          </a:bodyPr>
          <a:lstStyle/>
          <a:p>
            <a:pPr algn="l"/>
            <a:r>
              <a:rPr sz="1300" b="0" i="0">
                <a:solidFill>
                  <a:srgbClr val="2D2D2D"/>
                </a:solidFill>
              </a:rPr>
              <a:t>    •  Measure CTR &gt; 60% and PTR &gt; 50% — the core research contribution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97280"/>
          </a:xfrm>
          <a:prstGeom prst="rect">
            <a:avLst/>
          </a:prstGeom>
          <a:solidFill>
            <a:srgbClr val="002B7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137160"/>
            <a:ext cx="11430000" cy="914400"/>
          </a:xfrm>
          <a:prstGeom prst="rect">
            <a:avLst/>
          </a:prstGeom>
          <a:noFill/>
        </p:spPr>
        <p:txBody>
          <a:bodyPr wrap="square">
            <a:spAutoFit/>
          </a:bodyPr>
          <a:lstStyle/>
          <a:p>
            <a:pPr algn="l"/>
            <a:r>
              <a:rPr sz="3000" b="1" i="0">
                <a:solidFill>
                  <a:srgbClr val="FFFFFF"/>
                </a:solidFill>
              </a:rPr>
              <a:t>Timeline</a:t>
            </a:r>
          </a:p>
        </p:txBody>
      </p:sp>
      <p:sp>
        <p:nvSpPr>
          <p:cNvPr id="4" name="Rectangle 3"/>
          <p:cNvSpPr/>
          <p:nvPr/>
        </p:nvSpPr>
        <p:spPr>
          <a:xfrm>
            <a:off x="0" y="1097280"/>
            <a:ext cx="12188952" cy="54864"/>
          </a:xfrm>
          <a:prstGeom prst="rect">
            <a:avLst/>
          </a:prstGeom>
          <a:solidFill>
            <a:srgbClr val="F2A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82880" y="1325880"/>
            <a:ext cx="11704320" cy="960120"/>
          </a:xfrm>
          <a:prstGeom prst="rect">
            <a:avLst/>
          </a:prstGeom>
          <a:solidFill>
            <a:srgbClr val="F8F8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82880" y="1325880"/>
            <a:ext cx="201168" cy="960120"/>
          </a:xfrm>
          <a:prstGeom prst="rect">
            <a:avLst/>
          </a:prstGeom>
          <a:solidFill>
            <a:srgbClr val="1B7F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57200" y="1435607"/>
            <a:ext cx="1371600" cy="347472"/>
          </a:xfrm>
          <a:prstGeom prst="rect">
            <a:avLst/>
          </a:prstGeom>
          <a:solidFill>
            <a:srgbClr val="1B7F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75488" y="1453895"/>
            <a:ext cx="1335024" cy="320040"/>
          </a:xfrm>
          <a:prstGeom prst="rect">
            <a:avLst/>
          </a:prstGeom>
          <a:noFill/>
        </p:spPr>
        <p:txBody>
          <a:bodyPr wrap="square">
            <a:spAutoFit/>
          </a:bodyPr>
          <a:lstStyle/>
          <a:p>
            <a:pPr algn="ctr"/>
            <a:r>
              <a:rPr sz="1200" b="1" i="0">
                <a:solidFill>
                  <a:srgbClr val="FFFFFF"/>
                </a:solidFill>
              </a:rPr>
              <a:t>Weeks 1–3</a:t>
            </a:r>
          </a:p>
        </p:txBody>
      </p:sp>
      <p:sp>
        <p:nvSpPr>
          <p:cNvPr id="9" name="TextBox 8"/>
          <p:cNvSpPr txBox="1"/>
          <p:nvPr/>
        </p:nvSpPr>
        <p:spPr>
          <a:xfrm>
            <a:off x="1965960" y="1399032"/>
            <a:ext cx="6858000" cy="320040"/>
          </a:xfrm>
          <a:prstGeom prst="rect">
            <a:avLst/>
          </a:prstGeom>
          <a:noFill/>
        </p:spPr>
        <p:txBody>
          <a:bodyPr wrap="square">
            <a:spAutoFit/>
          </a:bodyPr>
          <a:lstStyle/>
          <a:p>
            <a:pPr algn="l"/>
            <a:r>
              <a:rPr sz="1600" b="1" i="0">
                <a:solidFill>
                  <a:srgbClr val="2D2D2D"/>
                </a:solidFill>
              </a:rPr>
              <a:t>Baseline Implementation</a:t>
            </a:r>
          </a:p>
        </p:txBody>
      </p:sp>
      <p:sp>
        <p:nvSpPr>
          <p:cNvPr id="10" name="TextBox 9"/>
          <p:cNvSpPr txBox="1"/>
          <p:nvPr/>
        </p:nvSpPr>
        <p:spPr>
          <a:xfrm>
            <a:off x="9144000" y="1399032"/>
            <a:ext cx="2651760" cy="320040"/>
          </a:xfrm>
          <a:prstGeom prst="rect">
            <a:avLst/>
          </a:prstGeom>
          <a:noFill/>
        </p:spPr>
        <p:txBody>
          <a:bodyPr wrap="square">
            <a:spAutoFit/>
          </a:bodyPr>
          <a:lstStyle/>
          <a:p>
            <a:pPr algn="r"/>
            <a:r>
              <a:rPr sz="1400" b="1" i="0">
                <a:solidFill>
                  <a:srgbClr val="1B7F3B"/>
                </a:solidFill>
              </a:rPr>
              <a:t>DONE ✓</a:t>
            </a:r>
          </a:p>
        </p:txBody>
      </p:sp>
      <p:sp>
        <p:nvSpPr>
          <p:cNvPr id="11" name="TextBox 10"/>
          <p:cNvSpPr txBox="1"/>
          <p:nvPr/>
        </p:nvSpPr>
        <p:spPr>
          <a:xfrm>
            <a:off x="1965960" y="1783080"/>
            <a:ext cx="9601200" cy="411480"/>
          </a:xfrm>
          <a:prstGeom prst="rect">
            <a:avLst/>
          </a:prstGeom>
          <a:noFill/>
        </p:spPr>
        <p:txBody>
          <a:bodyPr wrap="square">
            <a:spAutoFit/>
          </a:bodyPr>
          <a:lstStyle/>
          <a:p>
            <a:pPr algn="l"/>
            <a:r>
              <a:rPr sz="1200" b="0" i="0">
                <a:solidFill>
                  <a:srgbClr val="555555"/>
                </a:solidFill>
              </a:rPr>
              <a:t>LangGraph pipeline | Zone 1 chunking | 20-task evaluation | Ablation study</a:t>
            </a:r>
          </a:p>
        </p:txBody>
      </p:sp>
      <p:sp>
        <p:nvSpPr>
          <p:cNvPr id="12" name="Rectangle 11"/>
          <p:cNvSpPr/>
          <p:nvPr/>
        </p:nvSpPr>
        <p:spPr>
          <a:xfrm>
            <a:off x="182880" y="2423160"/>
            <a:ext cx="11704320" cy="960120"/>
          </a:xfrm>
          <a:prstGeom prst="rect">
            <a:avLst/>
          </a:prstGeom>
          <a:solidFill>
            <a:srgbClr val="F8F8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182880" y="2423160"/>
            <a:ext cx="201168" cy="960120"/>
          </a:xfrm>
          <a:prstGeom prst="rect">
            <a:avLst/>
          </a:prstGeom>
          <a:solidFill>
            <a:srgbClr val="002B7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57200" y="2532888"/>
            <a:ext cx="1371600" cy="347472"/>
          </a:xfrm>
          <a:prstGeom prst="rect">
            <a:avLst/>
          </a:prstGeom>
          <a:solidFill>
            <a:srgbClr val="002B7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75488" y="2551176"/>
            <a:ext cx="1335024" cy="320040"/>
          </a:xfrm>
          <a:prstGeom prst="rect">
            <a:avLst/>
          </a:prstGeom>
          <a:noFill/>
        </p:spPr>
        <p:txBody>
          <a:bodyPr wrap="square">
            <a:spAutoFit/>
          </a:bodyPr>
          <a:lstStyle/>
          <a:p>
            <a:pPr algn="ctr"/>
            <a:r>
              <a:rPr sz="1200" b="1" i="0">
                <a:solidFill>
                  <a:srgbClr val="FFFFFF"/>
                </a:solidFill>
              </a:rPr>
              <a:t>Weeks 4–7</a:t>
            </a:r>
          </a:p>
        </p:txBody>
      </p:sp>
      <p:sp>
        <p:nvSpPr>
          <p:cNvPr id="16" name="TextBox 15"/>
          <p:cNvSpPr txBox="1"/>
          <p:nvPr/>
        </p:nvSpPr>
        <p:spPr>
          <a:xfrm>
            <a:off x="1965960" y="2496312"/>
            <a:ext cx="6858000" cy="320040"/>
          </a:xfrm>
          <a:prstGeom prst="rect">
            <a:avLst/>
          </a:prstGeom>
          <a:noFill/>
        </p:spPr>
        <p:txBody>
          <a:bodyPr wrap="square">
            <a:spAutoFit/>
          </a:bodyPr>
          <a:lstStyle/>
          <a:p>
            <a:pPr algn="l"/>
            <a:r>
              <a:rPr sz="1600" b="1" i="0">
                <a:solidFill>
                  <a:srgbClr val="2D2D2D"/>
                </a:solidFill>
              </a:rPr>
              <a:t>Novel Implementation (OpenFEMA)</a:t>
            </a:r>
          </a:p>
        </p:txBody>
      </p:sp>
      <p:sp>
        <p:nvSpPr>
          <p:cNvPr id="17" name="TextBox 16"/>
          <p:cNvSpPr txBox="1"/>
          <p:nvPr/>
        </p:nvSpPr>
        <p:spPr>
          <a:xfrm>
            <a:off x="9144000" y="2496312"/>
            <a:ext cx="2651760" cy="320040"/>
          </a:xfrm>
          <a:prstGeom prst="rect">
            <a:avLst/>
          </a:prstGeom>
          <a:noFill/>
        </p:spPr>
        <p:txBody>
          <a:bodyPr wrap="square">
            <a:spAutoFit/>
          </a:bodyPr>
          <a:lstStyle/>
          <a:p>
            <a:pPr algn="r"/>
            <a:r>
              <a:rPr sz="1400" b="1" i="0">
                <a:solidFill>
                  <a:srgbClr val="002B7F"/>
                </a:solidFill>
              </a:rPr>
              <a:t>IN PROGRESS →</a:t>
            </a:r>
          </a:p>
        </p:txBody>
      </p:sp>
      <p:sp>
        <p:nvSpPr>
          <p:cNvPr id="18" name="TextBox 17"/>
          <p:cNvSpPr txBox="1"/>
          <p:nvPr/>
        </p:nvSpPr>
        <p:spPr>
          <a:xfrm>
            <a:off x="1965960" y="2880360"/>
            <a:ext cx="9601200" cy="411480"/>
          </a:xfrm>
          <a:prstGeom prst="rect">
            <a:avLst/>
          </a:prstGeom>
          <a:noFill/>
        </p:spPr>
        <p:txBody>
          <a:bodyPr wrap="square">
            <a:spAutoFit/>
          </a:bodyPr>
          <a:lstStyle/>
          <a:p>
            <a:pPr algn="l"/>
            <a:r>
              <a:rPr sz="1200" b="0" i="0">
                <a:solidFill>
                  <a:srgbClr val="555555"/>
                </a:solidFill>
              </a:rPr>
              <a:t>Zone 2 Open IE | Zone 3 Leiden clustering | Entity resolution | Full Neo4j graph</a:t>
            </a:r>
          </a:p>
        </p:txBody>
      </p:sp>
      <p:sp>
        <p:nvSpPr>
          <p:cNvPr id="19" name="Rectangle 18"/>
          <p:cNvSpPr/>
          <p:nvPr/>
        </p:nvSpPr>
        <p:spPr>
          <a:xfrm>
            <a:off x="182880" y="3520439"/>
            <a:ext cx="11704320" cy="960120"/>
          </a:xfrm>
          <a:prstGeom prst="rect">
            <a:avLst/>
          </a:prstGeom>
          <a:solidFill>
            <a:srgbClr val="F8F8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182880" y="3520439"/>
            <a:ext cx="201168" cy="960120"/>
          </a:xfrm>
          <a:prstGeom prst="rect">
            <a:avLst/>
          </a:prstGeom>
          <a:solidFill>
            <a:srgbClr val="6B35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57200" y="3630168"/>
            <a:ext cx="1371600" cy="347472"/>
          </a:xfrm>
          <a:prstGeom prst="rect">
            <a:avLst/>
          </a:prstGeom>
          <a:solidFill>
            <a:srgbClr val="6B35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75488" y="3648456"/>
            <a:ext cx="1335024" cy="320040"/>
          </a:xfrm>
          <a:prstGeom prst="rect">
            <a:avLst/>
          </a:prstGeom>
          <a:noFill/>
        </p:spPr>
        <p:txBody>
          <a:bodyPr wrap="square">
            <a:spAutoFit/>
          </a:bodyPr>
          <a:lstStyle/>
          <a:p>
            <a:pPr algn="ctr"/>
            <a:r>
              <a:rPr sz="1200" b="1" i="0">
                <a:solidFill>
                  <a:srgbClr val="FFFFFF"/>
                </a:solidFill>
              </a:rPr>
              <a:t>Weeks 8–9</a:t>
            </a:r>
          </a:p>
        </p:txBody>
      </p:sp>
      <p:sp>
        <p:nvSpPr>
          <p:cNvPr id="23" name="TextBox 22"/>
          <p:cNvSpPr txBox="1"/>
          <p:nvPr/>
        </p:nvSpPr>
        <p:spPr>
          <a:xfrm>
            <a:off x="1965960" y="3593591"/>
            <a:ext cx="6858000" cy="320040"/>
          </a:xfrm>
          <a:prstGeom prst="rect">
            <a:avLst/>
          </a:prstGeom>
          <a:noFill/>
        </p:spPr>
        <p:txBody>
          <a:bodyPr wrap="square">
            <a:spAutoFit/>
          </a:bodyPr>
          <a:lstStyle/>
          <a:p>
            <a:pPr algn="l"/>
            <a:r>
              <a:rPr sz="1600" b="1" i="0">
                <a:solidFill>
                  <a:srgbClr val="2D2D2D"/>
                </a:solidFill>
              </a:rPr>
              <a:t>Cross-Domain Transfer Study</a:t>
            </a:r>
          </a:p>
        </p:txBody>
      </p:sp>
      <p:sp>
        <p:nvSpPr>
          <p:cNvPr id="24" name="TextBox 23"/>
          <p:cNvSpPr txBox="1"/>
          <p:nvPr/>
        </p:nvSpPr>
        <p:spPr>
          <a:xfrm>
            <a:off x="9144000" y="3593591"/>
            <a:ext cx="2651760" cy="320040"/>
          </a:xfrm>
          <a:prstGeom prst="rect">
            <a:avLst/>
          </a:prstGeom>
          <a:noFill/>
        </p:spPr>
        <p:txBody>
          <a:bodyPr wrap="square">
            <a:spAutoFit/>
          </a:bodyPr>
          <a:lstStyle/>
          <a:p>
            <a:pPr algn="r"/>
            <a:r>
              <a:rPr sz="1400" b="1" i="0">
                <a:solidFill>
                  <a:srgbClr val="555555"/>
                </a:solidFill>
              </a:rPr>
              <a:t>UPCOMING</a:t>
            </a:r>
          </a:p>
        </p:txBody>
      </p:sp>
      <p:sp>
        <p:nvSpPr>
          <p:cNvPr id="25" name="TextBox 24"/>
          <p:cNvSpPr txBox="1"/>
          <p:nvPr/>
        </p:nvSpPr>
        <p:spPr>
          <a:xfrm>
            <a:off x="1965960" y="3977639"/>
            <a:ext cx="9601200" cy="411480"/>
          </a:xfrm>
          <a:prstGeom prst="rect">
            <a:avLst/>
          </a:prstGeom>
          <a:noFill/>
        </p:spPr>
        <p:txBody>
          <a:bodyPr wrap="square">
            <a:spAutoFit/>
          </a:bodyPr>
          <a:lstStyle/>
          <a:p>
            <a:pPr algn="l"/>
            <a:r>
              <a:rPr sz="1200" b="0" i="0">
                <a:solidFill>
                  <a:srgbClr val="555555"/>
                </a:solidFill>
              </a:rPr>
              <a:t>Auto insurance ingestion | CTR/PTR measurement | Ontology merging</a:t>
            </a:r>
          </a:p>
        </p:txBody>
      </p:sp>
      <p:sp>
        <p:nvSpPr>
          <p:cNvPr id="26" name="Rectangle 25"/>
          <p:cNvSpPr/>
          <p:nvPr/>
        </p:nvSpPr>
        <p:spPr>
          <a:xfrm>
            <a:off x="182880" y="4617720"/>
            <a:ext cx="11704320" cy="960120"/>
          </a:xfrm>
          <a:prstGeom prst="rect">
            <a:avLst/>
          </a:prstGeom>
          <a:solidFill>
            <a:srgbClr val="F8F8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182880" y="4617720"/>
            <a:ext cx="201168" cy="960120"/>
          </a:xfrm>
          <a:prstGeom prst="rect">
            <a:avLst/>
          </a:prstGeom>
          <a:solidFill>
            <a:srgbClr val="5555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457200" y="4727448"/>
            <a:ext cx="1371600" cy="347472"/>
          </a:xfrm>
          <a:prstGeom prst="rect">
            <a:avLst/>
          </a:prstGeom>
          <a:solidFill>
            <a:srgbClr val="5555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75488" y="4745736"/>
            <a:ext cx="1335024" cy="320040"/>
          </a:xfrm>
          <a:prstGeom prst="rect">
            <a:avLst/>
          </a:prstGeom>
          <a:noFill/>
        </p:spPr>
        <p:txBody>
          <a:bodyPr wrap="square">
            <a:spAutoFit/>
          </a:bodyPr>
          <a:lstStyle/>
          <a:p>
            <a:pPr algn="ctr"/>
            <a:r>
              <a:rPr sz="1200" b="1" i="0">
                <a:solidFill>
                  <a:srgbClr val="FFFFFF"/>
                </a:solidFill>
              </a:rPr>
              <a:t>Weeks 10–11</a:t>
            </a:r>
          </a:p>
        </p:txBody>
      </p:sp>
      <p:sp>
        <p:nvSpPr>
          <p:cNvPr id="30" name="TextBox 29"/>
          <p:cNvSpPr txBox="1"/>
          <p:nvPr/>
        </p:nvSpPr>
        <p:spPr>
          <a:xfrm>
            <a:off x="1965960" y="4690872"/>
            <a:ext cx="6858000" cy="320040"/>
          </a:xfrm>
          <a:prstGeom prst="rect">
            <a:avLst/>
          </a:prstGeom>
          <a:noFill/>
        </p:spPr>
        <p:txBody>
          <a:bodyPr wrap="square">
            <a:spAutoFit/>
          </a:bodyPr>
          <a:lstStyle/>
          <a:p>
            <a:pPr algn="l"/>
            <a:r>
              <a:rPr sz="1600" b="1" i="0">
                <a:solidFill>
                  <a:srgbClr val="2D2D2D"/>
                </a:solidFill>
              </a:rPr>
              <a:t>Polishing &amp; Reporting</a:t>
            </a:r>
          </a:p>
        </p:txBody>
      </p:sp>
      <p:sp>
        <p:nvSpPr>
          <p:cNvPr id="31" name="TextBox 30"/>
          <p:cNvSpPr txBox="1"/>
          <p:nvPr/>
        </p:nvSpPr>
        <p:spPr>
          <a:xfrm>
            <a:off x="9144000" y="4690872"/>
            <a:ext cx="2651760" cy="320040"/>
          </a:xfrm>
          <a:prstGeom prst="rect">
            <a:avLst/>
          </a:prstGeom>
          <a:noFill/>
        </p:spPr>
        <p:txBody>
          <a:bodyPr wrap="square">
            <a:spAutoFit/>
          </a:bodyPr>
          <a:lstStyle/>
          <a:p>
            <a:pPr algn="r"/>
            <a:r>
              <a:rPr sz="1400" b="1" i="0">
                <a:solidFill>
                  <a:srgbClr val="555555"/>
                </a:solidFill>
              </a:rPr>
              <a:t>UPCOMING</a:t>
            </a:r>
          </a:p>
        </p:txBody>
      </p:sp>
      <p:sp>
        <p:nvSpPr>
          <p:cNvPr id="32" name="TextBox 31"/>
          <p:cNvSpPr txBox="1"/>
          <p:nvPr/>
        </p:nvSpPr>
        <p:spPr>
          <a:xfrm>
            <a:off x="1965960" y="5074920"/>
            <a:ext cx="9601200" cy="411480"/>
          </a:xfrm>
          <a:prstGeom prst="rect">
            <a:avLst/>
          </a:prstGeom>
          <a:noFill/>
        </p:spPr>
        <p:txBody>
          <a:bodyPr wrap="square">
            <a:spAutoFit/>
          </a:bodyPr>
          <a:lstStyle/>
          <a:p>
            <a:pPr algn="l"/>
            <a:r>
              <a:rPr sz="1200" b="0" i="0">
                <a:solidFill>
                  <a:srgbClr val="555555"/>
                </a:solidFill>
              </a:rPr>
              <a:t>Streamlit demo | Final evaluations | 10–15 page report</a:t>
            </a:r>
          </a:p>
        </p:txBody>
      </p:sp>
      <p:sp>
        <p:nvSpPr>
          <p:cNvPr id="33" name="TextBox 32"/>
          <p:cNvSpPr txBox="1"/>
          <p:nvPr/>
        </p:nvSpPr>
        <p:spPr>
          <a:xfrm>
            <a:off x="274320" y="5870448"/>
            <a:ext cx="11430000" cy="365760"/>
          </a:xfrm>
          <a:prstGeom prst="rect">
            <a:avLst/>
          </a:prstGeom>
          <a:noFill/>
        </p:spPr>
        <p:txBody>
          <a:bodyPr wrap="square">
            <a:spAutoFit/>
          </a:bodyPr>
          <a:lstStyle/>
          <a:p>
            <a:pPr algn="l"/>
            <a:r>
              <a:rPr sz="1300" b="0" i="1">
                <a:solidFill>
                  <a:srgbClr val="555555"/>
                </a:solidFill>
              </a:rPr>
              <a:t>Deliverables: LangGraph pipeline  ·  Neo4j graphs (flood / auto / merged)  ·  Streamlit demo  ·  10–15 page report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