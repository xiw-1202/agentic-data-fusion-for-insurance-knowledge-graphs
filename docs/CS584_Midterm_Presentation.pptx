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everyone. Our project is Schema-Evolving Knowledge Graphs for Insurance. The key word is 'automated.' We want to eliminate the 3-6 month manual effort of building an ontology for each new insurance line of business.</a:t>
            </a:r>
          </a:p>
          <a:p/>
          <a:p>
            <a:r>
              <a:t>I'm Xiaofei Wang, working with Zechary Chou, advised by Dr. Kang at Assurant.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problem. When an insurance company expands into a new LOB, they need a new ontology. That means hiring domain experts, spending 3-6 months, and the work doesn't transfer.</a:t>
            </a:r>
          </a:p>
          <a:p/>
          <a:p>
            <a:r>
              <a:t>Existing tools like LLMGraphTransformer produce a flat mess - duplicate nodes, no types, no hierarchy. Look at this example: the same building shows up as two different nodes.</a:t>
            </a:r>
          </a:p>
          <a:p/>
          <a:p>
            <a:r>
              <a:t>Our research question: can we automatically induce an ontology from an extracted knowledge graph?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important. Our pipeline ingests THREE different data types.</a:t>
            </a:r>
          </a:p>
          <a:p/>
          <a:p>
            <a:r>
              <a:t>First, the SFIP policy document, a 45-page PDF with coverage definitions, exclusions, and claims procedures. 49 sections.</a:t>
            </a:r>
          </a:p>
          <a:p/>
          <a:p>
            <a:r>
              <a:t>Second, claims records from OpenFEMA - CSV files with total building coverage, flood zone, county code, date of loss. 72 records.</a:t>
            </a:r>
          </a:p>
          <a:p/>
          <a:p>
            <a:r>
              <a:t>Third, policy records - another CSV with property details, occupancy types, deductible amounts. 67 records.</a:t>
            </a:r>
          </a:p>
          <a:p/>
          <a:p>
            <a:r>
              <a:t>All three go through the SAME Zone 1 chunking pipeline. 188 chunks total. No format-specific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pipeline has 4 zones. Zone 1 ingests documents - handles both PDF and CSV. Zone 2 bootstraps vocabularies from the documents themselves and extracts triples. Zone 3 is the research contribution - ontology induction with SV-LOI. Zone 4 is structured Neo4j storage.</a:t>
            </a:r>
          </a:p>
          <a:p/>
          <a:p>
            <a:r>
              <a:t>Critical point: the pipeline NEVER sees the reference ontology. Riskine is used ONLY for evaluation. This is what makes the method domain-agnostic.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Zone 2 produces 1,351 entities and 1,749 relationships from 188 chunks.</a:t>
            </a:r>
          </a:p>
          <a:p/>
          <a:p>
            <a:r>
              <a:t>Query accuracy: we run 20 Cypher queries like 'What does Coverage A cover?' 19 out of 20 correct - 95%. Type inconsistency: only 2.2% of entities have conflicting labels.</a:t>
            </a:r>
          </a:p>
          <a:p/>
          <a:p>
            <a:r>
              <a:t>The extraction is fully domain-agnostic - the LLM bootstraps its own entity and relation types from the documents. We use synthetic few-shot examples, not text from the source documents.</a:t>
            </a:r>
          </a:p>
          <a:p/>
          <a:p>
            <a:r>
              <a:t>Takeaway: extraction is solved. The bottleneck is ontology induction.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methods compared, each using a fundamentally different signal.</a:t>
            </a:r>
          </a:p>
          <a:p/>
          <a:p>
            <a:r>
              <a:t>Leiden embeds entity names, builds a similarity graph, clusters. Groups things that LOOK alike.</a:t>
            </a:r>
          </a:p>
          <a:p/>
          <a:p>
            <a:r>
              <a:t>RSI-LCR builds relation-signature vectors - what relations each entity participates in. Clusters with HAC, refines with LLM coherence checks. Groups things that BEHAVE alike.</a:t>
            </a:r>
          </a:p>
          <a:p/>
          <a:p>
            <a:r>
              <a:t>SV-LOI has the LLM discover classes from domain detection, then assign entities, then structurally verify with 2-sigma outlier detection, then arbitrate disagreements. It knows what entities ARE.</a:t>
            </a:r>
          </a:p>
          <a:p/>
          <a:p>
            <a:r>
              <a:t>The key insight: neither semantic nor structural signal alone is sufficient.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Leiden found 11 clusters. But the clusters are semantically impure.</a:t>
            </a:r>
          </a:p>
          <a:p/>
          <a:p>
            <a:r>
              <a:t>Concrete example: the 'Hazard' cluster contained Coverage B, Residential Building, Flood Zone A, and Mudflow. All embed near insurance terms, but they're 4 DIFFERENT classes. Name F1 was literally zero.</a:t>
            </a:r>
          </a:p>
          <a:p/>
          <a:p>
            <a:r>
              <a:t>Lesson: embedding similarity groups entities that LOOK alike, not entities that ARE the same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RSI-LCR clusters by relation patterns. Name F1 went from zero to 0.295 - found Coverage, Risk, Property.</a:t>
            </a:r>
          </a:p>
          <a:p/>
          <a:p>
            <a:r>
              <a:t>But it over-fragments to 30 clusters. Coverage B and Coverage A have slightly different relation patterns, so they end up in different clusters. Both ARE Coverage, but the algorithm splits them.</a:t>
            </a:r>
          </a:p>
          <a:p/>
          <a:p>
            <a:r>
              <a:t>Worse: Coverage and Structure share many relations - COVERS, HAS_LIMIT, APPLIES_TO. Signatures overlap.</a:t>
            </a:r>
          </a:p>
          <a:p/>
          <a:p>
            <a:r>
              <a:t>Lesson: relation patterns tell you how entities BEHAVE, not what they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SV-LOI fuses both signals. 6 phases: detect domain, propose classes, assign entities, structural verification, arbitration, consolidation.</a:t>
            </a:r>
          </a:p>
          <a:p/>
          <a:p>
            <a:r>
              <a:t>Here's a concrete example. The LLM typed 'Flood Zone A' as Coverage. But Phase 4 checks: Coverage entities have COVERS and HAS_LIMIT. Flood Zone A has AFFECTS and LOCATED_IN. Cosine similarity to Coverage centroid: 0.12 when average is 0.90. Flagged!</a:t>
            </a:r>
          </a:p>
          <a:p/>
          <a:p>
            <a:r>
              <a:t>Phase 5 shows the LLM both signals: 'You said Coverage, but it looks like Risk structurally.' The LLM corrects to Risk. Neither signal alone catches this.</a:t>
            </a:r>
          </a:p>
          <a:p/>
          <a:p>
            <a:r>
              <a:t>Results: Name F1 0.563, BERTScore 0.732, Graph F1 0.714.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BERTScore F1: embed all class names, compute pairwise similarity. Unlike exact matching, 'Policy' gets partial credit against 'Product.'</a:t>
            </a:r>
          </a:p>
          <a:p/>
          <a:p>
            <a:r>
              <a:t>Graph F1: propagate embeddings through the hierarchy. If our 'Peril' is subclass of 'Risk', it gets credit through graph proximity.</a:t>
            </a:r>
          </a:p>
          <a:p/>
          <a:p>
            <a:r>
              <a:t>Entity Assignment F1: embed member entity names, compute centroids, compare to reference. The ONLY metric checking if entities are in the right bucket.</a:t>
            </a:r>
          </a:p>
          <a:p/>
          <a:p>
            <a:r>
              <a:t>Wu-Palmer: standard taxonomy depth agreement.</a:t>
            </a:r>
          </a:p>
          <a:p/>
          <a:p>
            <a:r>
              <a:t>We also report present-class F1, which only counts classes evidenced in the data. Person, Organization, Object are absent from flood insurance.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comparison. Every metric improves from Leiden to RSI-LCR to SV-LOI.</a:t>
            </a:r>
          </a:p>
          <a:p/>
          <a:p>
            <a:r>
              <a:t>Name F1: zero to 0.295 to 0.563. BERTScore: 0.451 to 0.577 to 0.732. Graph F1: 0.441 to 0.501 to 0.714.</a:t>
            </a:r>
          </a:p>
          <a:p/>
          <a:p>
            <a:r>
              <a:t>SV-LOI produces 7 classes vs Leiden's 11 and RSI-LCR's 30. Fewer, cleaner classes. All methods use the exact same extraction.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key findings.</a:t>
            </a:r>
          </a:p>
          <a:p/>
          <a:p>
            <a:r>
              <a:t>Extraction scales dramatically with model size. 8b: 1 triple per chunk. 72b: 8 to 50.</a:t>
            </a:r>
          </a:p>
          <a:p/>
          <a:p>
            <a:r>
              <a:t>Leiden clusters are impure - 'Hazard' mixes coverages, buildings, perils.</a:t>
            </a:r>
          </a:p>
          <a:p/>
          <a:p>
            <a:r>
              <a:t>LLMs default to data-type thinking. First SV-LOI attempt: 'FinancialAmount' with 577 entities! Fixed with two-stage domain-aware discovery.</a:t>
            </a:r>
          </a:p>
          <a:p/>
          <a:p>
            <a:r>
              <a:t>Source data limits recall. Person, Organization absent from flood insurance.</a:t>
            </a:r>
          </a:p>
          <a:p/>
          <a:p>
            <a:r>
              <a:t>Core finding: neither signal alone is sufficient. Their fusion is SV-LOI's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Remaining work. First: reduce unclassified entities from 24% to under 5%. Already implemented.</a:t>
            </a:r>
          </a:p>
          <a:p/>
          <a:p>
            <a:r>
              <a:t>Second: cross-domain transfer on auto insurance - zero code changes. This proves our domain-agnostic claim and fills the Person, Organization gaps.</a:t>
            </a:r>
          </a:p>
          <a:p/>
          <a:p>
            <a:r>
              <a:t>Third: measure Class Transfer Ratio - how many classes appear in both flood and auto?</a:t>
            </a:r>
          </a:p>
          <a:p/>
          <a:p>
            <a:r>
              <a:t>Fourth: paper writing. Fifth: Streamlit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Key takeaway: SV-LOI achieves 0.732 BERTScore F1 by fusing LLM typing with structural verification, without ever seeing the reference ontology. Three data sources, 7 clean classes, 5 out of 10 matched.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</a:defRPr>
            </a:pPr>
            <a:r>
              <a:t>Schema-Evolving Knowledge 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Automated Ontology Induction with Cross-Domain Transfer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</a:defRPr>
            </a:pPr>
            <a:r>
              <a:t>Xiaofei Wang  ·  Zechary Chou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CS 584 AI Capstone  ·  Emory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Advisor: Dr. Yingying Kang (Assurant)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The Ontology Engineering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Insurance companies expanding into new LOBs: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700" b="0">
                <a:solidFill>
                  <a:srgbClr val="CCCCCC"/>
                </a:solidFill>
              </a:defRPr>
            </a:pPr>
            <a:r>
              <a:t>  Manual expert labor per domain</a:t>
            </a:r>
          </a:p>
          <a:p>
            <a:pPr>
              <a:spcBef>
                <a:spcPts val="400"/>
              </a:spcBef>
              <a:defRPr sz="1700" b="0">
                <a:solidFill>
                  <a:srgbClr val="CCCCCC"/>
                </a:solidFill>
              </a:defRPr>
            </a:pPr>
            <a:r>
              <a:t>  Cost grows linearly with LOBs</a:t>
            </a:r>
          </a:p>
          <a:p>
            <a:pPr>
              <a:spcBef>
                <a:spcPts val="400"/>
              </a:spcBef>
              <a:defRPr sz="1700" b="0">
                <a:solidFill>
                  <a:srgbClr val="CCCCCC"/>
                </a:solidFill>
              </a:defRPr>
            </a:pPr>
            <a:r>
              <a:t>  No structure reuse across domains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</a:defRPr>
            </a:pPr>
            <a:r>
              <a:t>LLMGraphTransformer extracts KGs, but:</a:t>
            </a:r>
          </a:p>
          <a:p>
            <a:pPr>
              <a:spcBef>
                <a:spcPts val="400"/>
              </a:spcBef>
              <a:defRPr sz="1700" b="0">
                <a:solidFill>
                  <a:srgbClr val="FF6B6B"/>
                </a:solidFill>
              </a:defRPr>
            </a:pPr>
            <a:r>
              <a:t>  Entity duplication</a:t>
            </a:r>
          </a:p>
          <a:p>
            <a:pPr>
              <a:spcBef>
                <a:spcPts val="400"/>
              </a:spcBef>
              <a:defRPr sz="1700" b="0">
                <a:solidFill>
                  <a:srgbClr val="FF6B6B"/>
                </a:solidFill>
              </a:defRPr>
            </a:pPr>
            <a:r>
              <a:t>  Type proliferation (100s of labels)</a:t>
            </a:r>
          </a:p>
          <a:p>
            <a:pPr>
              <a:spcBef>
                <a:spcPts val="400"/>
              </a:spcBef>
              <a:defRPr sz="1700" b="0">
                <a:solidFill>
                  <a:srgbClr val="FF6B6B"/>
                </a:solidFill>
              </a:defRPr>
            </a:pPr>
            <a:r>
              <a:t>  No ontology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0972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43"/>
                </a:solidFill>
              </a:defRPr>
            </a:pPr>
            <a:r>
              <a:t>Example: LLMGraphTransformer output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Input: "Coverage A covers the building..."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600" b="0">
                <a:solidFill>
                  <a:srgbClr val="FF9F43"/>
                </a:solidFill>
              </a:defRPr>
            </a:pPr>
            <a:r>
              <a:t>Output (unconstrained):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  Node: "Coverage A" (no type)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  Node: "building" (no type)</a:t>
            </a:r>
          </a:p>
          <a:p>
            <a:pPr>
              <a:spcBef>
                <a:spcPts val="400"/>
              </a:spcBef>
              <a:defRPr sz="1400" b="0">
                <a:solidFill>
                  <a:srgbClr val="FF6B6B"/>
                </a:solidFill>
              </a:defRPr>
            </a:pPr>
            <a:r>
              <a:t>  Node: "Building" (duplicate!)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  Edge: "covers" (not standardized)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600" b="1">
                <a:solidFill>
                  <a:srgbClr val="FF6B6B"/>
                </a:solidFill>
              </a:defRPr>
            </a:pPr>
            <a:r>
              <a:t>Result: flat mess, no ontology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E676"/>
                </a:solidFill>
              </a:defRPr>
            </a:pPr>
            <a:r>
              <a:t>Can we automate ontology induction, domain-agnostically?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Data: Multiple Source Types, One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200400" cy="29260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1887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D2FF"/>
                </a:solidFill>
              </a:defRPr>
            </a:pPr>
            <a:r>
              <a:t>SFIP Policy (PDF)</a:t>
            </a:r>
          </a:p>
          <a:p>
            <a:pPr>
              <a:spcBef>
                <a:spcPts val="3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49 sections extracted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Coverage definitions</a:t>
            </a: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Exclusions &amp; conditions</a:t>
            </a: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Claims procedures</a:t>
            </a: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Legal obligations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400" b="0">
                <a:solidFill>
                  <a:srgbClr val="00E676"/>
                </a:solidFill>
              </a:defRPr>
            </a:pPr>
            <a:r>
              <a:t>Rich structured 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097280"/>
            <a:ext cx="3200400" cy="29260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1887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9F43"/>
                </a:solidFill>
              </a:defRPr>
            </a:pPr>
            <a:r>
              <a:t>Claims Records (CSV)</a:t>
            </a:r>
          </a:p>
          <a:p>
            <a:pPr>
              <a:spcBef>
                <a:spcPts val="3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72 records extracted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totalBuildingInsuranceCoverage</a:t>
            </a:r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amountPaidOnBuildingClaim</a:t>
            </a:r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floodZone, countyCode</a:t>
            </a:r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dateOfLoss, yearOfLoss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400" b="0">
                <a:solidFill>
                  <a:srgbClr val="00E676"/>
                </a:solidFill>
              </a:defRPr>
            </a:pPr>
            <a:r>
              <a:t>Tabular numeric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097280"/>
            <a:ext cx="3200400" cy="29260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1887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E676"/>
                </a:solidFill>
              </a:defRPr>
            </a:pPr>
            <a:r>
              <a:t>Policy Records (CSV)</a:t>
            </a:r>
          </a:p>
          <a:p>
            <a:pPr>
              <a:spcBef>
                <a:spcPts val="3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67 records extracted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propertyState, propertyCounty</a:t>
            </a:r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occupancyType</a:t>
            </a:r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deductibleAmount</a:t>
            </a:r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originalConstructionDate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400" b="0">
                <a:solidFill>
                  <a:srgbClr val="00E676"/>
                </a:solidFill>
              </a:defRPr>
            </a:pPr>
            <a:r>
              <a:t>Structured policy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CCCCCC"/>
                </a:solidFill>
              </a:defRPr>
            </a:pPr>
            <a:r>
              <a:t>188 total chunks fed into Zone 1 section-aware hybrid chunking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E676"/>
                </a:solidFill>
              </a:defRPr>
            </a:pPr>
            <a:r>
              <a:t>Same ingestion pipeline handles PDF text AND tabular CSV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4-Zone Domain-Agnostic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2560320" cy="256032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</a:defRPr>
            </a:pPr>
            <a:r>
              <a:t>Zone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Ingestion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PDF + CSV</a:t>
            </a:r>
            <a:br/>
            <a:r>
              <a:t>Section-aware</a:t>
            </a:r>
            <a:br/>
            <a:r>
              <a:t>chunking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2FF"/>
                </a:solidFill>
              </a:defRPr>
            </a:pPr>
            <a:r>
              <a:t>--&gt;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188720"/>
            <a:ext cx="2560320" cy="256032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2801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</a:defRPr>
            </a:pPr>
            <a:r>
              <a:t>Zone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Extraction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1031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Bootstrap vocab</a:t>
            </a:r>
            <a:br/>
            <a:r>
              <a:t>1-pass extraction</a:t>
            </a:r>
            <a:br/>
            <a:r>
              <a:t>Entity resolution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2FF"/>
                </a:solidFill>
              </a:defRPr>
            </a:pPr>
            <a:r>
              <a:t>--&gt;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188720"/>
            <a:ext cx="2560320" cy="256032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2801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43"/>
                </a:solidFill>
              </a:defRPr>
            </a:pPr>
            <a:r>
              <a:t>Zone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Ontology</a:t>
            </a:r>
            <a:br/>
            <a:r>
              <a:t>Induction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1031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SV-LOI (novel)</a:t>
            </a:r>
            <a:br/>
            <a:r>
              <a:t>LLM + structural</a:t>
            </a:r>
            <a:br/>
            <a:r>
              <a:t>verification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2FF"/>
                </a:solidFill>
              </a:defRPr>
            </a:pPr>
            <a:r>
              <a:t>--&gt;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188720"/>
            <a:ext cx="2560320" cy="256032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2801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CCCCC"/>
                </a:solidFill>
              </a:defRPr>
            </a:pPr>
            <a:r>
              <a:t>Zone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1031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Neo4j 3-layer</a:t>
            </a:r>
            <a:br/>
            <a:r>
              <a:t>SUBCLASS_OF</a:t>
            </a:r>
            <a:br/>
            <a:r>
              <a:t>hierarchy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114800"/>
            <a:ext cx="8229600" cy="9144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1680" y="4206240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D93D"/>
                </a:solidFill>
              </a:defRPr>
            </a:pPr>
            <a:r>
              <a:t>EVALUATION (separate from pipeline)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48056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Induced ontology compared to Riskine (10-class insurance reference ontology)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0E676"/>
                </a:solidFill>
              </a:defRPr>
            </a:pPr>
            <a:r>
              <a:t>Zero domain-specific code: same pipeline runs on flood AND auto insurance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Zone 2: Extraction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00E676"/>
                </a:solidFill>
              </a:defRPr>
            </a:pPr>
            <a:r>
              <a:t>1,351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Entities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00E676"/>
                </a:solidFill>
              </a:defRPr>
            </a:pPr>
            <a:r>
              <a:t>1,749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00E676"/>
                </a:solidFill>
              </a:defRPr>
            </a:pPr>
            <a:r>
              <a:t>95%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Query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10972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00E676"/>
                </a:solidFill>
              </a:defRPr>
            </a:pPr>
            <a:r>
              <a:t>188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Chunks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00D2FF"/>
                </a:solidFill>
              </a:defRPr>
            </a:pPr>
            <a:r>
              <a:t>How we evaluate extraction quality: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</a:p>
          <a:p>
            <a:pPr>
              <a:spcBef>
                <a:spcPts val="0"/>
              </a:spcBef>
              <a:defRPr sz="1600" b="1">
                <a:solidFill>
                  <a:srgbClr val="FF9F43"/>
                </a:solidFill>
              </a:defRPr>
            </a:pPr>
            <a:r>
              <a:t>Query Accuracy (20 Cypher questions):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Q: "What does Coverage A cover?"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Cypher query finds answer in graph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LLM grades: does answer mention 'building'?</a:t>
            </a:r>
          </a:p>
          <a:p>
            <a:pPr>
              <a:spcBef>
                <a:spcPts val="400"/>
              </a:spcBef>
              <a:defRPr sz="1400" b="0">
                <a:solidFill>
                  <a:srgbClr val="00E676"/>
                </a:solidFill>
              </a:defRPr>
            </a:pPr>
            <a:r>
              <a:t>19/20 correct = 95%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</a:p>
          <a:p>
            <a:pPr>
              <a:spcBef>
                <a:spcPts val="0"/>
              </a:spcBef>
              <a:defRPr sz="1600" b="1">
                <a:solidFill>
                  <a:srgbClr val="FFFFFF"/>
                </a:solidFill>
              </a:defRPr>
            </a:pPr>
            <a:r>
              <a:t>Model: qwen2.5:72b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Emory Turing (2x RTX 8000 48GB)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600" b="1">
                <a:solidFill>
                  <a:srgbClr val="00D2FF"/>
                </a:solidFill>
              </a:defRPr>
            </a:pPr>
            <a:r>
              <a:t>Domain-agnostic bootstrapping: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LLM proposes 20 entity types from docs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LLM proposes 45 relation types from docs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Synthetic few-shot (not from source text)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9F43"/>
                </a:solidFill>
              </a:defRPr>
            </a:pPr>
            <a:r>
              <a:t>Extraction is solved. The bottleneck is ontology induction.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D2FF"/>
                </a:solidFill>
              </a:defRPr>
            </a:pPr>
            <a:r>
              <a:t>Zone 3: Three Ontology Induction Methods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05840"/>
            <a:ext cx="3474720" cy="41148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CCCCC"/>
                </a:solidFill>
              </a:defRPr>
            </a:pPr>
            <a:r>
              <a:t>A: Leiden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CCCCC"/>
                </a:solidFill>
              </a:defRPr>
            </a:pPr>
            <a:r>
              <a:t>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Embed entity names</a:t>
            </a:r>
            <a:br/>
            <a:r>
              <a:t>Build similarity graph</a:t>
            </a:r>
            <a:br/>
            <a:r>
              <a:t>Leiden clustering</a:t>
            </a:r>
            <a:br/>
            <a:r>
              <a:t>LLM names clusters</a:t>
            </a:r>
            <a:br/>
            <a:br/>
            <a:r>
              <a:t>Groups by LOOKS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1005840"/>
            <a:ext cx="3474720" cy="41148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1999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CCCCC"/>
                </a:solidFill>
              </a:defRPr>
            </a:pPr>
            <a:r>
              <a:t>B: RSI-LCR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9" y="14630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CCCCC"/>
                </a:solidFill>
              </a:defRPr>
            </a:pPr>
            <a:r>
              <a:t>STRUCTURAL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92024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Build relation-signature</a:t>
            </a:r>
            <a:br/>
            <a:r>
              <a:t>vectors per entity</a:t>
            </a:r>
            <a:br/>
            <a:r>
              <a:t>HAC clustering</a:t>
            </a:r>
            <a:br/>
            <a:r>
              <a:t>LLM coherence refine</a:t>
            </a:r>
            <a:br/>
            <a:br/>
            <a:r>
              <a:t>Groups by BEHAVIOR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005840"/>
            <a:ext cx="3474720" cy="41148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E676"/>
                </a:solidFill>
              </a:defRPr>
            </a:pPr>
            <a:r>
              <a:t>C: SV-LOI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4630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9F43"/>
                </a:solidFill>
              </a:defRPr>
            </a:pPr>
            <a:r>
              <a:t>NOVEL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92024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LLM discovers classes</a:t>
            </a:r>
            <a:br/>
            <a:r>
              <a:t>LLM types each entity</a:t>
            </a:r>
            <a:br/>
            <a:r>
              <a:t>Structural verify (2σ)</a:t>
            </a:r>
            <a:br/>
            <a:r>
              <a:t>LLM arbitrates conflicts</a:t>
            </a:r>
            <a:br/>
            <a:br/>
            <a:r>
              <a:t>Knows what entities 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0D2FF"/>
                </a:solidFill>
              </a:defRPr>
            </a:pPr>
            <a:r>
              <a:t>Key insight: neither semantic nor structural signal alone is sufficient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Method A: Leiden — Why / Solved / Failed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338328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005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D2FF"/>
                </a:solidFill>
              </a:defRPr>
            </a:pPr>
            <a:r>
              <a:t>WHY?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Standard community detection</a:t>
            </a: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SOTA (Traag 2019)</a:t>
            </a: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Natural first attempt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914400"/>
            <a:ext cx="338328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005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E676"/>
                </a:solidFill>
              </a:defRPr>
            </a:pPr>
            <a:r>
              <a:t>SOLVED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11 clusters from 1,351 entities</a:t>
            </a:r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SUBCLASS_OF hierarchy</a:t>
            </a:r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Bottom-up induction works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914400"/>
            <a:ext cx="338328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005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6B6B"/>
                </a:solidFill>
              </a:defRPr>
            </a:pPr>
            <a:r>
              <a:t>FAILED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Impure clusters</a:t>
            </a:r>
          </a:p>
          <a:p>
            <a:pPr>
              <a:spcBef>
                <a:spcPts val="300"/>
              </a:spcBef>
              <a:defRPr sz="1500" b="0">
                <a:solidFill>
                  <a:srgbClr val="FF6B6B"/>
                </a:solidFill>
              </a:defRPr>
            </a:pPr>
            <a:r>
              <a:t>Name F1 = 0.000</a:t>
            </a:r>
          </a:p>
          <a:p>
            <a:pPr>
              <a:spcBef>
                <a:spcPts val="300"/>
              </a:spcBef>
              <a:defRPr sz="1400" b="0">
                <a:solidFill>
                  <a:srgbClr val="FF9F43"/>
                </a:solidFill>
              </a:defRPr>
            </a:pPr>
            <a:r>
              <a:t>Embedding sim != ontological sim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10515600" cy="237744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9F43"/>
                </a:solidFill>
              </a:defRPr>
            </a:pPr>
            <a:r>
              <a:t>EXAMPLE: The 'Hazard' cluster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576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Leiden grouped these together: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"Coverage B" (coverage type)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"Residential Building" (structure)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"Flood Zone A" (risk zone)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"Mudflow" (peril/damage)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6576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</a:defRPr>
            </a:pPr>
            <a:r>
              <a:t>All 4 near 'insurance' in embedding space</a:t>
            </a:r>
          </a:p>
          <a:p>
            <a:pPr>
              <a:spcBef>
                <a:spcPts val="400"/>
              </a:spcBef>
              <a:defRPr sz="1400" b="0">
                <a:solidFill>
                  <a:srgbClr val="00E676"/>
                </a:solidFill>
              </a:defRPr>
            </a:pPr>
            <a:r>
              <a:t>But they belong to 4 DIFFERENT classes:</a:t>
            </a:r>
          </a:p>
          <a:p>
            <a:pPr>
              <a:spcBef>
                <a:spcPts val="400"/>
              </a:spcBef>
              <a:defRPr sz="1300" b="0">
                <a:solidFill>
                  <a:srgbClr val="00E676"/>
                </a:solidFill>
              </a:defRPr>
            </a:pPr>
            <a:r>
              <a:t>  Coverage, Structure, Risk, Damage</a:t>
            </a:r>
          </a:p>
          <a:p>
            <a:pPr>
              <a:spcBef>
                <a:spcPts val="4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FF9F43"/>
                </a:solidFill>
              </a:defRPr>
            </a:pPr>
            <a:r>
              <a:t>Result: cluster named 'Hazard' - wrong for all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</a:defRPr>
            </a:pPr>
            <a:r>
              <a:t>BERTScore F1: 0.451 | Graph F1: 0.441 | Name F1: 0.000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Method B: RSI-LCR — Relation Signatures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338328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005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D2FF"/>
                </a:solidFill>
              </a:defRPr>
            </a:pPr>
            <a:r>
              <a:t>WHY?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Fix Leiden: use RELATIONS</a:t>
            </a: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Same class = same relation types</a:t>
            </a:r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"Coverage" has COVERS, HAS_LIMIT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914400"/>
            <a:ext cx="338328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005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E676"/>
                </a:solidFill>
              </a:defRPr>
            </a:pPr>
            <a:r>
              <a:t>SOLVED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Better separation</a:t>
            </a:r>
          </a:p>
          <a:p>
            <a:pPr>
              <a:spcBef>
                <a:spcPts val="300"/>
              </a:spcBef>
              <a:defRPr sz="1500" b="0">
                <a:solidFill>
                  <a:srgbClr val="00E676"/>
                </a:solidFill>
              </a:defRPr>
            </a:pPr>
            <a:r>
              <a:t>Name F1: 0.000 -&gt; 0.295</a:t>
            </a:r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Found Coverage, Risk, Property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914400"/>
            <a:ext cx="338328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005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6B6B"/>
                </a:solidFill>
              </a:defRPr>
            </a:pPr>
            <a:r>
              <a:t>FELL SHORT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30 clusters (too many)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Signatures overlap in dense graph</a:t>
            </a:r>
          </a:p>
          <a:p>
            <a:pPr>
              <a:spcBef>
                <a:spcPts val="300"/>
              </a:spcBef>
              <a:defRPr sz="1400" b="0">
                <a:solidFill>
                  <a:srgbClr val="FF9F43"/>
                </a:solidFill>
              </a:defRPr>
            </a:pPr>
            <a:r>
              <a:t>Structural signal insufficient alone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10515600" cy="237744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9F43"/>
                </a:solidFill>
              </a:defRPr>
            </a:pPr>
            <a:r>
              <a:t>EXAMPLE: Over-fragmentation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576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RSI-LCR produced 30 clusters: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  Cluster 7: Coverage B, Coverage C</a:t>
            </a:r>
          </a:p>
          <a:p>
            <a:pPr>
              <a:spcBef>
                <a:spcPts val="400"/>
              </a:spcBef>
              <a:defRPr sz="1300" b="0">
                <a:solidFill>
                  <a:srgbClr val="FF6B6B"/>
                </a:solidFill>
              </a:defRPr>
            </a:pPr>
            <a:r>
              <a:t>  Cluster 12: Coverage A (alone!)</a:t>
            </a:r>
          </a:p>
          <a:p>
            <a:pPr>
              <a:spcBef>
                <a:spcPts val="400"/>
              </a:spcBef>
              <a:defRPr sz="1300" b="0">
                <a:solidFill>
                  <a:srgbClr val="FF6B6B"/>
                </a:solidFill>
              </a:defRPr>
            </a:pPr>
            <a:r>
              <a:t>  Cluster 19: Debris Removal (alone!)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All three ARE Coverage but have slightly</a:t>
            </a:r>
          </a:p>
          <a:p>
            <a:pPr>
              <a:spcBef>
                <a:spcPts val="400"/>
              </a:spcBef>
              <a:defRPr sz="1300" b="0">
                <a:solidFill>
                  <a:srgbClr val="FF9F43"/>
                </a:solidFill>
              </a:defRPr>
            </a:pPr>
            <a:r>
              <a:t>different relation patterns -&gt;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6576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Why: dense graph with 1,749 relations</a:t>
            </a:r>
          </a:p>
          <a:p>
            <a:pPr>
              <a:spcBef>
                <a:spcPts val="400"/>
              </a:spcBef>
              <a:defRPr sz="1400" b="0">
                <a:solidFill>
                  <a:srgbClr val="FF9F43"/>
                </a:solidFill>
              </a:defRPr>
            </a:pPr>
            <a:r>
              <a:t>Coverage and Structure BOTH have:</a:t>
            </a:r>
          </a:p>
          <a:p>
            <a:pPr>
              <a:spcBef>
                <a:spcPts val="400"/>
              </a:spcBef>
              <a:defRPr sz="1300" b="0">
                <a:solidFill>
                  <a:srgbClr val="CCCCCC"/>
                </a:solidFill>
              </a:defRPr>
            </a:pPr>
            <a:r>
              <a:t>  COVERS, HAS_LIMIT, APPLIES_TO</a:t>
            </a:r>
          </a:p>
          <a:p>
            <a:pPr>
              <a:spcBef>
                <a:spcPts val="400"/>
              </a:spcBef>
              <a:defRPr sz="1300" b="0">
                <a:solidFill>
                  <a:srgbClr val="FF6B6B"/>
                </a:solidFill>
              </a:defRPr>
            </a:pPr>
            <a:r>
              <a:t>Signatures overlap -&gt; wrong clusters</a:t>
            </a:r>
          </a:p>
          <a:p>
            <a:pPr>
              <a:spcBef>
                <a:spcPts val="4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FF9F43"/>
                </a:solidFill>
              </a:defRPr>
            </a:pPr>
            <a:r>
              <a:t>Relation patterns = behavior, not 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</a:defRPr>
            </a:pPr>
            <a:r>
              <a:t>BERTScore F1: 0.577 | Graph F1: 0.501 | Name F1: 0.295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Method C: SV-LOI — Our Novel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676"/>
                </a:solidFill>
              </a:defRPr>
            </a:pPr>
            <a:r>
              <a:t>STRUCTURALLY-VERIFIED LLM ONTOLOGY INDUCTION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05840"/>
            <a:ext cx="3383280" cy="2286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D2FF"/>
                </a:solidFill>
              </a:defRPr>
            </a:pPr>
            <a:r>
              <a:t>WHY?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400" b="0">
                <a:solidFill>
                  <a:srgbClr val="FF6B6B"/>
                </a:solidFill>
              </a:defRPr>
            </a:pPr>
            <a:r>
              <a:t>Leiden: semantic fails alone</a:t>
            </a:r>
          </a:p>
          <a:p>
            <a:pPr>
              <a:spcBef>
                <a:spcPts val="300"/>
              </a:spcBef>
              <a:defRPr sz="1400" b="0">
                <a:solidFill>
                  <a:srgbClr val="FF6B6B"/>
                </a:solidFill>
              </a:defRPr>
            </a:pPr>
            <a:r>
              <a:t>RSI-LCR: structural fails alone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FUSE both signals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LLM knows WHAT; graph VERIFIES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005840"/>
            <a:ext cx="3383280" cy="2286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E676"/>
                </a:solidFill>
              </a:defRPr>
            </a:pPr>
            <a:r>
              <a:t>6 Phases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1. Detect domain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2. LLM proposes classes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3. LLM assigns entities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4. Structural verify (2-sigma)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5. LLM arbitrates disagreements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6. Consolidate classes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05840"/>
            <a:ext cx="3383280" cy="2286000"/>
          </a:xfrm>
          <a:prstGeom prst="roundRect">
            <a:avLst/>
          </a:prstGeom>
          <a:solidFill>
            <a:srgbClr val="16213E"/>
          </a:solidFill>
          <a:ln w="381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0972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76"/>
                </a:solidFill>
              </a:defRPr>
            </a:pPr>
            <a:r>
              <a:t>RESULTS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800" b="1">
                <a:solidFill>
                  <a:srgbClr val="00E676"/>
                </a:solidFill>
              </a:defRPr>
            </a:pPr>
            <a:r>
              <a:t>Name F1:       0.563</a:t>
            </a:r>
          </a:p>
          <a:p>
            <a:pPr>
              <a:spcBef>
                <a:spcPts val="400"/>
              </a:spcBef>
              <a:defRPr sz="1800" b="1">
                <a:solidFill>
                  <a:srgbClr val="00E676"/>
                </a:solidFill>
              </a:defRPr>
            </a:pPr>
            <a:r>
              <a:t>BERTScore F1:  0.732</a:t>
            </a:r>
          </a:p>
          <a:p>
            <a:pPr>
              <a:spcBef>
                <a:spcPts val="400"/>
              </a:spcBef>
              <a:defRPr sz="1800" b="1">
                <a:solidFill>
                  <a:srgbClr val="00E676"/>
                </a:solidFill>
              </a:defRPr>
            </a:pPr>
            <a:r>
              <a:t>Graph F1:      0.714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</a:defRPr>
            </a:pPr>
            <a:r>
              <a:t>7 classes, 5/10 matched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515600" cy="25603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57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676"/>
                </a:solidFill>
              </a:defRPr>
            </a:pPr>
            <a:r>
              <a:t>EXAMPLE: Structural verification catches LLM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Phase 3: LLM typed 'Flood Zone A' as Coverage</a:t>
            </a:r>
          </a:p>
          <a:p>
            <a:pPr>
              <a:spcBef>
                <a:spcPts val="4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FF9F43"/>
                </a:solidFill>
              </a:defRPr>
            </a:pPr>
            <a:r>
              <a:t>Phase 4 structural check:</a:t>
            </a:r>
          </a:p>
          <a:p>
            <a:pPr>
              <a:spcBef>
                <a:spcPts val="400"/>
              </a:spcBef>
              <a:defRPr sz="1300" b="0">
                <a:solidFill>
                  <a:srgbClr val="CCCCCC"/>
                </a:solidFill>
              </a:defRPr>
            </a:pPr>
            <a:r>
              <a:t>  Flood Zone A relations: AFFECTS, LOCATED_IN</a:t>
            </a:r>
          </a:p>
          <a:p>
            <a:pPr>
              <a:spcBef>
                <a:spcPts val="400"/>
              </a:spcBef>
              <a:defRPr sz="1300" b="0">
                <a:solidFill>
                  <a:srgbClr val="CCCCCC"/>
                </a:solidFill>
              </a:defRPr>
            </a:pPr>
            <a:r>
              <a:t>  Coverage centroid: COVERS, HAS_LIMIT</a:t>
            </a:r>
          </a:p>
          <a:p>
            <a:pPr>
              <a:spcBef>
                <a:spcPts val="400"/>
              </a:spcBef>
              <a:defRPr sz="1300" b="0">
                <a:solidFill>
                  <a:srgbClr val="FF6B6B"/>
                </a:solidFill>
              </a:defRPr>
            </a:pPr>
            <a:r>
              <a:t>  Cosine similarity: 0.12 (mean: 0.90)</a:t>
            </a:r>
          </a:p>
          <a:p>
            <a:pPr>
              <a:spcBef>
                <a:spcPts val="400"/>
              </a:spcBef>
              <a:defRPr sz="1300" b="1">
                <a:solidFill>
                  <a:srgbClr val="FF6B6B"/>
                </a:solidFill>
              </a:defRPr>
            </a:pPr>
            <a:r>
              <a:t>  FLAGGED (&gt;2-sigma deviation)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02336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</a:defRPr>
            </a:pPr>
            <a:r>
              <a:t>Phase 5 arbitration: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"You typed Flood Zone A as Coverage,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but it structurally resembles Risk.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Which is correct?"</a:t>
            </a:r>
          </a:p>
          <a:p>
            <a:pPr>
              <a:spcBef>
                <a:spcPts val="4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00E676"/>
                </a:solidFill>
              </a:defRPr>
            </a:pPr>
            <a:r>
              <a:t>LLM: Risk (corrected!)</a:t>
            </a:r>
          </a:p>
          <a:p>
            <a:pPr>
              <a:spcBef>
                <a:spcPts val="400"/>
              </a:spcBef>
              <a:defRPr sz="3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FF9F43"/>
                </a:solidFill>
              </a:defRPr>
            </a:pPr>
            <a:r>
              <a:t>Neither signal alone catches this.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D2FF"/>
                </a:solidFill>
              </a:defRPr>
            </a:pPr>
            <a:r>
              <a:t>Evaluation Metrics Explained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5303520" cy="11887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005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D2FF"/>
                </a:solidFill>
              </a:defRPr>
            </a:pPr>
            <a:r>
              <a:t>BERTScore F1 -- Do class NAMES align semantically?</a:t>
            </a:r>
          </a:p>
          <a:p>
            <a:pPr>
              <a:spcBef>
                <a:spcPts val="300"/>
              </a:spcBef>
              <a:defRPr sz="2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Embed induced + reference names, pairwise cosine similarity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'Policy' gets partial credit vs 'Product' (similar embeddings)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914400"/>
            <a:ext cx="5303520" cy="11887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7960" y="1005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E676"/>
                </a:solidFill>
              </a:defRPr>
            </a:pPr>
            <a:r>
              <a:t>Graph F1 -- Does the HIERARCHY align?</a:t>
            </a:r>
          </a:p>
          <a:p>
            <a:pPr>
              <a:spcBef>
                <a:spcPts val="300"/>
              </a:spcBef>
              <a:defRPr sz="2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Propagate embeddings through SUBCLASS_OF edges (2 hops)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'Peril' SUBCLASS_OF 'Risk' gets credit through graph proximity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77440"/>
            <a:ext cx="5303520" cy="11887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9F43"/>
                </a:solidFill>
              </a:defRPr>
            </a:pPr>
            <a:r>
              <a:t>Entity Assignment F1 -- Are entities in the RIGHT class?</a:t>
            </a:r>
          </a:p>
          <a:p>
            <a:pPr>
              <a:spcBef>
                <a:spcPts val="300"/>
              </a:spcBef>
              <a:defRPr sz="2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Embed member entity names per class, compute centroid vs reference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Only metric that checks entity PLACEMENT, not just class names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377440"/>
            <a:ext cx="5303520" cy="11887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D93D"/>
                </a:solidFill>
              </a:defRPr>
            </a:pPr>
            <a:r>
              <a:t>Wu-Palmer -- Hierarchy depth agreement</a:t>
            </a:r>
          </a:p>
          <a:p>
            <a:pPr>
              <a:spcBef>
                <a:spcPts val="300"/>
              </a:spcBef>
              <a:defRPr sz="200" b="0">
                <a:solidFill>
                  <a:srgbClr val="FFFFFF"/>
                </a:solidFill>
              </a:defRPr>
            </a:pP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Standard taxonomy metric: 2*depth(LCA)/(depth(A)+depth(B))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Tests if matched classes are at the same 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</a:defRPr>
            </a:pPr>
            <a:r>
              <a:t>Present-class F1: only counts Riskine classes evidenced in source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976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</a:defRPr>
            </a:pPr>
            <a:r>
              <a:t>All metrics follow OLLM (NeurIPS 2024) evaluation protocol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754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3931920" y="4754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Leiden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754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RSI-LCR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754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SV-LOI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</a:defRPr>
            </a:pPr>
            <a:r>
              <a:t>BERTScore F1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0.451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0.577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</a:defRPr>
            </a:pPr>
            <a:r>
              <a:t>0.732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303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</a:defRPr>
            </a:pPr>
            <a:r>
              <a:t>Graph F1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5303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0.441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303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0.501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5303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</a:defRPr>
            </a:pPr>
            <a:r>
              <a:t>0.714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577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</a:defRPr>
            </a:pPr>
            <a:r>
              <a:t>Entity Assign F1 (present)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5577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0.293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577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0.344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59" y="5577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</a:defRPr>
            </a:pPr>
            <a:r>
              <a:t>0.417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SV-LOI Outperforms on Every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</a:defRPr>
            </a:pPr>
            <a:r>
              <a:t>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1005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Leiden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05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RSI-LCR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005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SV-LOI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6245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Name 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36245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6245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0.295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36245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0.563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190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Entity Assign F1 (full)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190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0.226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190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0.302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7190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0.326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0756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Entity Assign F1 (present)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0.293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0.344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0756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0.417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43230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BERTScore F1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4323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0.451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4323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0.577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43230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0.732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788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Graph F1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2788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0.441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788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0.501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2788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0.714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14553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Continuous F1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14553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0.069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14553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0.081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314553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0.122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5021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Wu-Palmer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35021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0.653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5021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0.723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3502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0.752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8587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Induced classes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3858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858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38587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21538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Query accuracy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421538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95%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21538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95%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421538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95%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Type inconsistency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8.3%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2.1%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4572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2.2%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All methods use same extraction (qwen2.5:72b, 1,351 entities)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</a:defRPr>
            </a:pPr>
            <a:r>
              <a:t>Extraction scales with model 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618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8b: 1 triple/chunk -&gt; 72b: 8-50. Bigger = dramatically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7451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</a:defRPr>
            </a:pPr>
            <a:r>
              <a:t>Leiden clusters are semantically impure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221991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'Hazard' mixes 4 different classes. Embedding sim != ontological sim.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834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43"/>
                </a:solidFill>
              </a:defRPr>
            </a:pPr>
            <a:r>
              <a:t>LLMs default to data-type thinking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8211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First SV-LOI: 'FinancialAmount' (577 entities!). Fixed with 2-stage discovery.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CCCCC"/>
                </a:solidFill>
              </a:defRPr>
            </a:pPr>
            <a:r>
              <a:t>Source data limits 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14223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Person, Org, Object absent from flood. Present-class F1 for fair comparison.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</a:defRPr>
            </a:pPr>
            <a:r>
              <a:t>Neither signal alone is sufficient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1023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Semantic + structural verification &gt; either alone. SV-LOI's core contribution.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Next Steps (Weeks 10-11)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E676"/>
                </a:solidFill>
              </a:defRPr>
            </a:pPr>
            <a:r>
              <a:t>Reduce unclassified 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5331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24% -&gt; &lt;5%. Rescue step uses class examples for re-typing.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9F43"/>
                </a:solidFill>
              </a:defRPr>
            </a:pPr>
            <a:r>
              <a:t>Cross-domain transfer (auto insurance)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26771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Run identical pipeline, zero code changes. Proves domain-agnostic claim.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834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9F43"/>
                </a:solidFill>
              </a:defRPr>
            </a:pPr>
            <a:r>
              <a:t>CTR/PTR measurement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8211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Class Transfer Ratio + Property Transfer Ratio across LOBs.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4903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CCCCCC"/>
                </a:solidFill>
              </a:defRPr>
            </a:pPr>
            <a:r>
              <a:t>Paper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096511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Targeting peer-reviewed venue. All metrics follow OLLM protocol.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63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CCCCCC"/>
                </a:solidFill>
              </a:defRPr>
            </a:pPr>
            <a:r>
              <a:t>Streamlit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01091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Interactive ontology exploration and visualization.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2FF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</a:defRPr>
            </a:pPr>
            <a:r>
              <a:t>github.com/xiw-1202/Agentic-Data-Fusion-for-Insurance-Knowledge-Graphs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</a:defRPr>
            </a:pPr>
            <a:r>
              <a:t>Advisor: Dr. Yingying Kang (Assurant) | GPU: Emory Turing (2x RTX 8000)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</a:p>
          <a:p>
            <a:pPr>
              <a:spcBef>
                <a:spcPts val="0"/>
              </a:spcBef>
              <a:defRPr sz="1800" b="0">
                <a:solidFill>
                  <a:srgbClr val="00D2FF"/>
                </a:solidFill>
              </a:defRPr>
            </a:pPr>
            <a:r>
              <a:t>3 data sources | 1,351 entities | 7 clean classes | 5/10 Riskine matched</a:t>
            </a:r>
          </a:p>
          <a:p>
            <a:pPr>
              <a:spcBef>
                <a:spcPts val="400"/>
              </a:spcBef>
              <a:defRPr sz="2200" b="1">
                <a:solidFill>
                  <a:srgbClr val="00E676"/>
                </a:solidFill>
              </a:defRPr>
            </a:pPr>
            <a:r>
              <a:t>SV-LOI: 0.732 BERTScore F1 | 0.714 Graph F1</a:t>
            </a:r>
          </a:p>
          <a:p>
            <a:pPr>
              <a:spcBef>
                <a:spcPts val="400"/>
              </a:spcBef>
              <a:defRPr sz="1700" b="0">
                <a:solidFill>
                  <a:srgbClr val="CCCCCC"/>
                </a:solidFill>
              </a:defRPr>
            </a:pPr>
            <a:r>
              <a:t>Without ever seeing the reference ontology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