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 snapToObjects="1">
      <p:cViewPr varScale="1">
        <p:scale>
          <a:sx n="117" d="100"/>
          <a:sy n="117" d="100"/>
        </p:scale>
        <p:origin x="808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everyone. Our project is about automating ontology engineering for insurance knowledge graphs. The title is "Schema-Evolving Knowledge Graphs for Insurance" — the key word is "automated." We want to eliminate the 3-6 month manual effort of building an ontology for each new insurance line of business.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problem. When an insurance company expands into a new line of business — say from flood to auto — they need a new ontology. That means hiring domain experts, spending 3-6 months, and the work doesn't transfer between domains.</a:t>
            </a:r>
          </a:p>
          <a:p/>
          <a:p>
            <a:r>
              <a:t>Existing tools like LangChain's LLMGraphTransformer can extract knowledge graphs, but they produce a flat mess — duplicated entities, inconsistent types, no hierarchy. You get a knowledge graph but no ontology structure.</a:t>
            </a:r>
          </a:p>
          <a:p/>
          <a:p>
            <a:r>
              <a:t>Our research question: can we automatically induce an ontology from an extracted knowledge graph, without any manual engineering?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pipeline has 4 zones. Zone 1 handles document ingestion — we process both SFIP policy PDFs and OpenFEMA claims CSVs using section-aware chunking with a semantic merge threshold of 0.85.</a:t>
            </a:r>
          </a:p>
          <a:p/>
          <a:p>
            <a:r>
              <a:t>Zone 2 is extraction — this is where we bootstrap entity and relation vocabularies from the documents themselves, extract triples, and resolve duplicate entities. This zone is done and works well — 95% query accuracy.</a:t>
            </a:r>
          </a:p>
          <a:p/>
          <a:p>
            <a:r>
              <a:t>Zone 3 is the research contribution — ontology induction. This is where we take the flat entity graph and discover what classes exist, which entities belong to which class, and how classes relate hierarchically.</a:t>
            </a:r>
          </a:p>
          <a:p/>
          <a:p>
            <a:r>
              <a:t>Zone 4 is structured storage in Neo4j with three layers. The critical point: the entire pipeline is domain-agnostic. The same code runs on flood AND auto insurance with zero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me show you Zone 2 results. Using qwen2.5:72b on the Emory Turing GPU cluster, we extracted 1,351 entities and 1,749 relationships from 188 chunks. Query accuracy is 95% — meaning 19 out of 20 evaluation queries return correct answers.</a:t>
            </a:r>
          </a:p>
          <a:p/>
          <a:p>
            <a:r>
              <a:t>The key takeaway: extraction is solved. The bottleneck is ontology induction — that's where our research contribution 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Zone 3, we implemented and compared three ontology induction methods. Method A is our baseline — Leiden community detection, a standard graph clustering algorithm. Method B is RSI-LCR, which uses relation signatures instead of name embeddings. Method C is SV-LOI — our novel contribution — which fuses LLM semantic typing with structural verification.</a:t>
            </a:r>
          </a:p>
          <a:p/>
          <a:p>
            <a:r>
              <a:t>The key insight driving this progression: neither semantic signals alone nor structural signals alone are sufficient. You need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 A: Leiden community detection. Why did we try this? It's the standard approach — if entities are similar, they should cluster together. Leiden is state-of-the-art for community detection.</a:t>
            </a:r>
          </a:p>
          <a:p/>
          <a:p>
            <a:r>
              <a:t>What it solved: it successfully found 11 clusters from 1,351 entities and produced a SUBCLASS_OF hierarchy. So bottom-up induction IS feasible.</a:t>
            </a:r>
          </a:p>
          <a:p/>
          <a:p>
            <a:r>
              <a:t>But why did it fail? The clusters are semantically impure. For example, the cluster named "Hazard" mixed together coverages, buildings, AND perils — three completely different ontological types. Name F1 was literally zero — not a single class name matched the reference ontology.</a:t>
            </a:r>
          </a:p>
          <a:p/>
          <a:p>
            <a:r>
              <a:t>The lesson: embedding similarity groups entities that LOOK alike in vector space, but that doesn't mean they ARE the same thing ontologically. A flood zone and a building can have similar embeddings but belong to completely different classes.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 B: RSI-LCR — Relation-Signature Induction with LLM Coherence Refinement. The idea: fix Leiden's flaw by clustering on relation PATTERNS instead of name embeddings. The insight is that entities of the same class participate in the same types of relations — Coverage entities have COVERS and HAS_LIMIT; Person entities have HAS_NAME and RESIDES_AT.</a:t>
            </a:r>
          </a:p>
          <a:p/>
          <a:p>
            <a:r>
              <a:t>What it solved: better structural separation. Name F1 went from 0.000 to 0.295 — it found Coverage, Risk, and Property. The LLM coherence refinement step catches and splits bad clusters.</a:t>
            </a:r>
          </a:p>
          <a:p/>
          <a:p>
            <a:r>
              <a:t>But it fell short because it over-fragments — 30 tiny clusters instead of 10-15 meaningful classes. In a dense graph where entities share many relation types, the signatures overlap too much. Structural signal alone can't distinguish ontological types.</a:t>
            </a:r>
          </a:p>
          <a:p/>
          <a:p>
            <a:r>
              <a:t>The lesson: relation patterns tell you how entities BEHAVE, not what they ARE. A deductible and a coverage both participate in the same relations — but they're different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 C: SV-LOI — our novel contribution. This is Structurally-Verified LLM Ontology Induction.</a:t>
            </a:r>
          </a:p>
          <a:p/>
          <a:p>
            <a:r>
              <a:t>Why? Because Leiden showed semantic signals fail alone, and RSI-LCR showed structural signals fail alone. The key insight: FUSE both signals. The LLM knows WHAT an entity is from its name and context. The graph structure can VERIFY whether that assignment is consistent.</a:t>
            </a:r>
          </a:p>
          <a:p/>
          <a:p>
            <a:r>
              <a:t>How it works in 6 phases: First, detect the domain from entity names — the LLM figures out "this is flood insurance." Second, the LLM proposes ontology classes for that domain. Third, it assigns each entity to a class in batches. Fourth, we build structural signatures and check — does each entity's relation pattern match its assigned class? Fifth, for disagreements, the LLM arbitrates with enriched context. Sixth, we consolidate fine-grained classes.</a:t>
            </a:r>
          </a:p>
          <a:p/>
          <a:p>
            <a:r>
              <a:t>Results: Name F1 jumped to 0.563. BERTScore F1 is 0.732. Graph F1 is 0.714. We get 7 clean classes instead of 30, and 5 out of 10 Riskine reference classes are matched — without ever seeing the reference ontology during induction.</a:t>
            </a:r>
          </a:p>
          <a:p/>
          <a:p>
            <a:r>
              <a:t>SV-LOI wins on EVERY metric versus both Leiden and RSI-LCR.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full comparison table. Look at the progression across all metrics — every single one improves from Leiden to RSI-LCR to SV-LOI.</a:t>
            </a:r>
          </a:p>
          <a:p/>
          <a:p>
            <a:r>
              <a:t>The most dramatic improvement is Name F1: from literally zero with Leiden, to 0.295 with RSI-LCR, to 0.563 with SV-LOI. BERTScore F1 goes from 0.451 to 0.732. Graph F1 from 0.441 to 0.714.</a:t>
            </a:r>
          </a:p>
          <a:p/>
          <a:p>
            <a:r>
              <a:t>Also notice the induced class count: Leiden found 11 clusters, RSI-LCR over-fragmented to 30, and SV-LOI consolidates to 7 clean classes. Fewer, cleaner classes.</a:t>
            </a:r>
          </a:p>
          <a:p/>
          <a:p>
            <a:r>
              <a:t>All three methods use the exact same Zone 2 extraction as input — same 1,351 entities, same 1,749 relationships. The only difference is the induction algorithm. We follow the OLLM evaluation protocol from NeurIPS 2024 for fair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shows what SV-LOI actually discovered versus the Riskine reference ontology. Coverage matched Coverage — perfect. Product matched Product. Property matched Property. Risk matched Risk with a partial score. Address matched Address.</a:t>
            </a:r>
          </a:p>
          <a:p/>
          <a:p>
            <a:r>
              <a:t>The 5 unmatched Riskine classes — Person, Organization, Object, Structure, Damage — are mostly absent from flood insurance data. The SFIP policy and FEMA claims records don't contain named people, organizations, or physical objects. This is a data coverage limitation, not a method limitation.</a:t>
            </a:r>
          </a:p>
          <a:p/>
          <a:p>
            <a:r>
              <a:t>This is actually a STRENGTH: our method correctly induces only the classes that are evidenced in the source data. It doesn't hallucinate classes that aren't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key findings from our experiments.</a:t>
            </a:r>
          </a:p>
          <a:p/>
          <a:p>
            <a:r>
              <a:t>First, extraction scales dramatically with model size — 8b extracts 1 triple per chunk, while 72b extracts 8 to 50 triples per chunk. This is why we use the 72b model.</a:t>
            </a:r>
          </a:p>
          <a:p/>
          <a:p>
            <a:r>
              <a:t>Second, LLMs default to data-type thinking. Our first SV-LOI attempt produced classes like "FinancialAmount" and "TimePeriod" instead of domain concepts like Coverage and Risk. We fixed this with two-stage class discovery — detect the domain first, then propose domain-appropriate classes.</a:t>
            </a:r>
          </a:p>
          <a:p/>
          <a:p>
            <a:r>
              <a:t>Third, name-matching F1 is a poor metric for this task. It rewards naming convention rather than semantic correctness. We adopted BERTScore F1 as a better alternative.</a:t>
            </a:r>
          </a:p>
          <a:p/>
          <a:p>
            <a:r>
              <a:t>Fourth, source data limits recall. Flood insurance data simply doesn't contain Person or Organization entities, so we report both full 10-class F1 and present-class F1 for fair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remaining weeks, our priorities are: First, reduce unclassified entities from 24% to under 5% using a rescue step that re-types Other entities with class examples as context.</a:t>
            </a:r>
          </a:p>
          <a:p/>
          <a:p>
            <a:r>
              <a:t>Second, cross-domain transfer — run the identical pipeline on auto insurance data with zero code changes. This proves our domain-agnostic claim and fills coverage gaps since auto insurance has Persons, Organizations, and Vehicles.</a:t>
            </a:r>
          </a:p>
          <a:p/>
          <a:p>
            <a:r>
              <a:t>Third, measure Cross-domain Transfer Ratio and Partial Transfer Ratio to quantify how many ontology classes transfer between flood and auto.</a:t>
            </a:r>
          </a:p>
          <a:p/>
          <a:p>
            <a:r>
              <a:t>Fourth, paper writing targeting a peer-reviewed venue. And fifth, a Streamlit demo for interactive ontology exploration.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 I'm happy to take questions. The code is available on GitHub, and I want to thank Dr. Kang at Assurant for her guidance and the Emory Turing cluster for GPU resources.</a:t>
            </a:r>
          </a:p>
          <a:p/>
          <a:p>
            <a:r>
              <a:t>The key takeaway: SV-LOI achieves 0.732 BERTScore F1 and 0.714 Graph F1 without ever seeing the reference ontology during induction. It's fully domain-agnostic and ready for cross-domain transfer.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D2FF"/>
                </a:solidFill>
              </a:defRPr>
            </a:pPr>
            <a:r>
              <a:t>Schema-Evolving Knowledge 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</a:defRPr>
            </a:pPr>
            <a:r>
              <a:t>Automated Ontology Induction with Cross-Domain Transfer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CCCC"/>
                </a:solidFill>
              </a:defRPr>
            </a:pPr>
            <a:r>
              <a:t>Xiaofei Wang  ·  Zechary Chou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CS 584 AI Capstone  ·  Emory University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Advisor: Dr. Yingying Kang (Assurant)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The Ontology Engineering Bottleneck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</a:defRPr>
            </a:pPr>
            <a:r>
              <a:t>Insurance companies expanding into new LOBs face a 3–6 month bottleneck per domain:</a:t>
            </a:r>
          </a:p>
          <a:p>
            <a:pPr>
              <a:spcBef>
                <a:spcPts val="600"/>
              </a:spcBef>
              <a:defRPr sz="8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1800" b="0">
                <a:solidFill>
                  <a:srgbClr val="CCCCCC"/>
                </a:solidFill>
              </a:defRPr>
            </a:pPr>
            <a:r>
              <a:t>  Manual expert labor per domain</a:t>
            </a:r>
          </a:p>
          <a:p>
            <a:pPr>
              <a:spcBef>
                <a:spcPts val="600"/>
              </a:spcBef>
              <a:defRPr sz="1800" b="0">
                <a:solidFill>
                  <a:srgbClr val="CCCCCC"/>
                </a:solidFill>
              </a:defRPr>
            </a:pPr>
            <a:r>
              <a:t>  Cost grows linearly with LOBs</a:t>
            </a:r>
          </a:p>
          <a:p>
            <a:pPr>
              <a:spcBef>
                <a:spcPts val="600"/>
              </a:spcBef>
              <a:defRPr sz="1800" b="0">
                <a:solidFill>
                  <a:srgbClr val="CCCCCC"/>
                </a:solidFill>
              </a:defRPr>
            </a:pPr>
            <a:r>
              <a:t>  No structure reuse across domains</a:t>
            </a:r>
          </a:p>
          <a:p>
            <a:pPr>
              <a:spcBef>
                <a:spcPts val="600"/>
              </a:spcBef>
              <a:defRPr sz="8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2000" b="1">
                <a:solidFill>
                  <a:srgbClr val="FFFFFF"/>
                </a:solidFill>
              </a:defRPr>
            </a:pPr>
            <a:r>
              <a:t>LLMGraphTransformer extracts KGs, but: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0"/>
              </a:spcBef>
              <a:defRPr sz="2000" b="1">
                <a:solidFill>
                  <a:srgbClr val="FF9F43"/>
                </a:solidFill>
              </a:defRPr>
            </a:pPr>
            <a:r>
              <a:t>Current tool problems:</a:t>
            </a:r>
          </a:p>
          <a:p>
            <a:pPr>
              <a:spcBef>
                <a:spcPts val="600"/>
              </a:spcBef>
              <a:defRPr sz="6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1800" b="0">
                <a:solidFill>
                  <a:srgbClr val="FF6B6B"/>
                </a:solidFill>
              </a:defRPr>
            </a:pPr>
            <a:r>
              <a:t>  Entity duplication</a:t>
            </a:r>
          </a:p>
          <a:p>
            <a:pPr>
              <a:spcBef>
                <a:spcPts val="600"/>
              </a:spcBef>
              <a:defRPr sz="6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1800" b="0">
                <a:solidFill>
                  <a:srgbClr val="FF6B6B"/>
                </a:solidFill>
              </a:defRPr>
            </a:pPr>
            <a:r>
              <a:t>  Type proliferation</a:t>
            </a:r>
          </a:p>
          <a:p>
            <a:pPr>
              <a:spcBef>
                <a:spcPts val="600"/>
              </a:spcBef>
              <a:defRPr sz="6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1800" b="0">
                <a:solidFill>
                  <a:srgbClr val="FF6B6B"/>
                </a:solidFill>
              </a:defRPr>
            </a:pPr>
            <a:r>
              <a:t>  No ontology hierarchy</a:t>
            </a:r>
          </a:p>
          <a:p>
            <a:pPr>
              <a:spcBef>
                <a:spcPts val="600"/>
              </a:spcBef>
              <a:defRPr sz="6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1800" b="0">
                <a:solidFill>
                  <a:srgbClr val="FF6B6B"/>
                </a:solidFill>
              </a:defRPr>
            </a:pPr>
            <a:r>
              <a:t>  No cross-domain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E676"/>
                </a:solidFill>
              </a:defRPr>
            </a:pPr>
            <a:r>
              <a:t>Can we automate ontology induction?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4-Zone Domain-Agnostic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560320" cy="320040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E676"/>
                </a:solidFill>
              </a:defRPr>
            </a:pPr>
            <a:r>
              <a:t>Zone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Ingestion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PDF + CSV</a:t>
            </a:r>
            <a:br/>
            <a:r>
              <a:t>Section-aware</a:t>
            </a:r>
            <a:br/>
            <a:r>
              <a:t>chunking</a:t>
            </a:r>
            <a:br/>
            <a:r>
              <a:t>τ = 0.85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D2FF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371600"/>
            <a:ext cx="2560320" cy="320040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E676"/>
                </a:solidFill>
              </a:defRPr>
            </a:pPr>
            <a:r>
              <a:t>Zone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828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Extraction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4688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Bootstrap vocab</a:t>
            </a:r>
            <a:br/>
            <a:r>
              <a:t>from documents</a:t>
            </a:r>
            <a:br/>
            <a:r>
              <a:t>1-pass extraction</a:t>
            </a:r>
            <a:br/>
            <a:r>
              <a:t>Entity resolution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D2FF"/>
                </a:solidFill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371600"/>
            <a:ext cx="2560320" cy="320040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9F43"/>
                </a:solidFill>
              </a:defRPr>
            </a:pPr>
            <a:r>
              <a:t>Zone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828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Ontology</a:t>
            </a:r>
            <a:br/>
            <a:r>
              <a:t>Induction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688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SV-LOI (novel)</a:t>
            </a:r>
            <a:br/>
            <a:r>
              <a:t>LLM typing +</a:t>
            </a:r>
            <a:br/>
            <a:r>
              <a:t>Structural</a:t>
            </a:r>
            <a:br/>
            <a:r>
              <a:t>verification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D2FF"/>
                </a:solidFill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371600"/>
            <a:ext cx="2560320" cy="320040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CCCCC"/>
                </a:solidFill>
              </a:defRPr>
            </a:pPr>
            <a:r>
              <a:t>Zone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1828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Storage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4688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Neo4j</a:t>
            </a:r>
            <a:br/>
            <a:r>
              <a:t>3-layer graph</a:t>
            </a:r>
            <a:br/>
            <a:r>
              <a:t>SUBCLASS_OF</a:t>
            </a:r>
            <a:br/>
            <a:r>
              <a:t>hierarchy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E676"/>
                </a:solidFill>
              </a:defRPr>
            </a:pPr>
            <a:r>
              <a:t>Zero domain-specific code — same pipeline runs on flood AND auto insurance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Zone 2: Extraction is 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E676"/>
                </a:solidFill>
              </a:defRPr>
            </a:pPr>
            <a:r>
              <a:t>1,351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Entities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3716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E676"/>
                </a:solidFill>
              </a:defRPr>
            </a:pPr>
            <a:r>
              <a:t>1,749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2103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E676"/>
                </a:solidFill>
              </a:defRPr>
            </a:pPr>
            <a:r>
              <a:t>95%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03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Query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13716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E676"/>
                </a:solidFill>
              </a:defRPr>
            </a:pPr>
            <a:r>
              <a:t>188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2103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Chunks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004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0"/>
              </a:spcBef>
              <a:defRPr sz="1800" b="0">
                <a:solidFill>
                  <a:srgbClr val="CCCCCC"/>
                </a:solidFill>
              </a:defRPr>
            </a:pPr>
            <a:r>
              <a:t>Model: qwen2.5:72b on Emory Turing GPU cluster (2× RTX 8000)</a:t>
            </a:r>
          </a:p>
          <a:p>
            <a:pPr>
              <a:spcBef>
                <a:spcPts val="600"/>
              </a:spcBef>
              <a:defRPr sz="1800" b="0">
                <a:solidFill>
                  <a:srgbClr val="CCCCCC"/>
                </a:solidFill>
              </a:defRPr>
            </a:pPr>
            <a:r>
              <a:t>Domain-agnostic: bootstrapped 20 entity types + 45 relation types from documents</a:t>
            </a:r>
          </a:p>
          <a:p>
            <a:pPr>
              <a:spcBef>
                <a:spcPts val="600"/>
              </a:spcBef>
              <a:defRPr sz="8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2200" b="1">
                <a:solidFill>
                  <a:srgbClr val="FF9F43"/>
                </a:solidFill>
              </a:defRPr>
            </a:pPr>
            <a:r>
              <a:t>Takeaway: Extraction is excellent. The bottleneck is ontology induction.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Zone 3: Three Ontology Induction Methods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3474720" cy="365760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CCCCC"/>
                </a:solidFill>
              </a:defRPr>
            </a:pPr>
            <a:r>
              <a:t>A: Leiden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CCCCC"/>
                </a:solidFill>
              </a:defRPr>
            </a:pPr>
            <a:r>
              <a:t>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Community detection</a:t>
            </a:r>
            <a:br/>
            <a:r>
              <a:t>on similarity graph</a:t>
            </a:r>
            <a:br/>
            <a:br/>
            <a:r>
              <a:t>Clusters are</a:t>
            </a:r>
            <a:br/>
            <a:r>
              <a:t>semantically impure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59" y="1188720"/>
            <a:ext cx="3474720" cy="365760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1999" y="12801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CCCCC"/>
                </a:solidFill>
              </a:defRPr>
            </a:pPr>
            <a:r>
              <a:t>B: RSI-LCR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1999" y="1737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CCCCC"/>
                </a:solidFill>
              </a:defRPr>
            </a:pPr>
            <a:r>
              <a:t>Structural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19456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Group by relation-</a:t>
            </a:r>
            <a:br/>
            <a:r>
              <a:t>type signatures</a:t>
            </a:r>
            <a:br/>
            <a:br/>
            <a:r>
              <a:t>Better separation</a:t>
            </a:r>
            <a:br/>
            <a:r>
              <a:t>but over-fragments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188720"/>
            <a:ext cx="3474720" cy="365760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2801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E676"/>
                </a:solidFill>
              </a:defRPr>
            </a:pPr>
            <a:r>
              <a:t>C: SV-LOI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737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9F43"/>
                </a:solidFill>
              </a:defRPr>
            </a:pPr>
            <a:r>
              <a:t>Novel 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19456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LLM class discovery</a:t>
            </a:r>
            <a:br/>
            <a:r>
              <a:t>+ structural verify</a:t>
            </a:r>
            <a:br/>
            <a:r>
              <a:t>+ consolidation</a:t>
            </a:r>
            <a:br/>
            <a:br/>
            <a:r>
              <a:t>Fuses both signals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D2FF"/>
                </a:solidFill>
              </a:defRPr>
            </a:pPr>
            <a:r>
              <a:t>Key insight: Neither semantic (LLM) nor structural (graph) signal alone is sufficient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</a:defRPr>
            </a:pPr>
            <a:r>
              <a:t>Method A: Leiden — Why, What It Solved, Why It Failed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CCCCC"/>
                </a:solidFill>
              </a:defRPr>
            </a:pPr>
            <a:r>
              <a:t>BASELINE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383280" cy="27432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</a:defRPr>
            </a:pPr>
            <a:r>
              <a:t>WHY this approach?</a:t>
            </a:r>
          </a:p>
          <a:p>
            <a:pPr>
              <a:spcBef>
                <a:spcPts val="400"/>
              </a:spcBef>
              <a:defRPr sz="8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Standard graph clustering — group similar entities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</a:defRPr>
            </a:pPr>
            <a:r>
              <a:t>SOTA community detection (Traag 2019)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</a:defRPr>
            </a:pPr>
            <a:r>
              <a:t>Natural first attempt: similarity → cluster → name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280160"/>
            <a:ext cx="3383280" cy="27432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2628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E676"/>
                </a:solidFill>
              </a:defRPr>
            </a:pPr>
            <a:r>
              <a:t>WHAT it solved</a:t>
            </a:r>
          </a:p>
          <a:p>
            <a:pPr>
              <a:spcBef>
                <a:spcPts val="400"/>
              </a:spcBef>
              <a:defRPr sz="8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Found 11 clusters from 1,351 entities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Produced SUBCLASS_OF hierarchy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Proved bottom-up induction is feasible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280160"/>
            <a:ext cx="3383280" cy="27432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8388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</a:defRPr>
            </a:pPr>
            <a:r>
              <a:t>WHY it failed</a:t>
            </a:r>
          </a:p>
          <a:p>
            <a:pPr>
              <a:spcBef>
                <a:spcPts val="400"/>
              </a:spcBef>
              <a:defRPr sz="8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</a:defRPr>
            </a:pPr>
            <a:r>
              <a:t>Clusters are impure — 'Hazard' mixes coverages, buildings, perils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500" b="0">
                <a:solidFill>
                  <a:srgbClr val="FF6B6B"/>
                </a:solidFill>
              </a:defRPr>
            </a:pPr>
            <a:r>
              <a:t>Name F1 = 0.000 (zero names match)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400" b="0">
                <a:solidFill>
                  <a:srgbClr val="FF9F43"/>
                </a:solidFill>
              </a:defRPr>
            </a:pPr>
            <a:r>
              <a:t>Embedding similarity ≠ ontological similarity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FF9F43"/>
                </a:solidFill>
              </a:defRPr>
            </a:pPr>
            <a:r>
              <a:t>Lesson: Entities that LOOK alike are not necessarily the same THING.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29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BERTScore F1: 0.451  |  Graph F1: 0.441  |  Name F1: 0.000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</a:defRPr>
            </a:pPr>
            <a:r>
              <a:rPr dirty="0"/>
              <a:t>Method B: RSI-LCR — Why, What It Solved, Why It Fell Short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91243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CCCCC"/>
                </a:solidFill>
              </a:defRPr>
            </a:pPr>
            <a:r>
              <a:rPr dirty="0"/>
              <a:t>RELATION-SIGNATURE INDUCTION + LLM COHERENCE REFINEMENT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383280" cy="27432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</a:defRPr>
            </a:pPr>
            <a:r>
              <a:t>WHY this approach?</a:t>
            </a:r>
          </a:p>
          <a:p>
            <a:pPr>
              <a:spcBef>
                <a:spcPts val="400"/>
              </a:spcBef>
              <a:defRPr sz="8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Fix Leiden: use RELATIONS not names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</a:defRPr>
            </a:pPr>
            <a:r>
              <a:t>Same-class entities have same relation types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300" b="0">
                <a:solidFill>
                  <a:srgbClr val="CCCCCC"/>
                </a:solidFill>
              </a:defRPr>
            </a:pPr>
            <a:r>
              <a:t>"Coverage" → COVERS, HAS_LIMIT</a:t>
            </a:r>
            <a:br/>
            <a:r>
              <a:t>"Person" → HAS_NAME, RESIDES_AT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280160"/>
            <a:ext cx="3383280" cy="27432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2628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E676"/>
                </a:solidFill>
              </a:defRPr>
            </a:pPr>
            <a:r>
              <a:t>WHAT it solved</a:t>
            </a:r>
          </a:p>
          <a:p>
            <a:pPr>
              <a:spcBef>
                <a:spcPts val="400"/>
              </a:spcBef>
              <a:defRPr sz="8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Better separation than Leiden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500" b="0">
                <a:solidFill>
                  <a:srgbClr val="00E676"/>
                </a:solidFill>
              </a:defRPr>
            </a:pPr>
            <a:r>
              <a:t>Name F1: 0.000 → 0.295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Found Coverage, Risk, Property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LLM coherence catches bad clusters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280160"/>
            <a:ext cx="3383280" cy="27432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8388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</a:defRPr>
            </a:pPr>
            <a:r>
              <a:rPr dirty="0"/>
              <a:t>WHY it fell short</a:t>
            </a:r>
          </a:p>
          <a:p>
            <a:pPr>
              <a:spcBef>
                <a:spcPts val="400"/>
              </a:spcBef>
              <a:defRPr sz="800" b="0">
                <a:solidFill>
                  <a:srgbClr val="FFFFFF"/>
                </a:solidFill>
              </a:defRPr>
            </a:pPr>
            <a:endParaRPr dirty="0"/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rPr dirty="0"/>
              <a:t>Over-fragments: 30 clusters (too many)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  <a:endParaRPr dirty="0"/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</a:defRPr>
            </a:pPr>
            <a:r>
              <a:rPr dirty="0"/>
              <a:t>Dense graph → signatures overlap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  <a:endParaRPr dirty="0"/>
          </a:p>
          <a:p>
            <a:pPr>
              <a:spcBef>
                <a:spcPts val="400"/>
              </a:spcBef>
              <a:defRPr sz="1300" b="0">
                <a:solidFill>
                  <a:srgbClr val="FF9F43"/>
                </a:solidFill>
              </a:defRPr>
            </a:pPr>
            <a:r>
              <a:rPr dirty="0"/>
              <a:t>Structural signal alone can't distinguish ontological types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FF9F43"/>
                </a:solidFill>
              </a:defRPr>
            </a:pPr>
            <a:r>
              <a:t>Lesson: Relation patterns tell you how entities BEHAVE, not what they 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29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BERTScore F1: 0.577  |  Graph F1: 0.501  |  Name F1: 0.295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</a:defRPr>
            </a:pPr>
            <a:r>
              <a:t>Method C: SV-LOI — Our Novel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676"/>
                </a:solidFill>
              </a:defRPr>
            </a:pPr>
            <a:r>
              <a:t>STRUCTURALLY-VERIFIED LLM ONTOLOGY INDUCTION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383280" cy="30175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</a:defRPr>
            </a:pPr>
            <a:r>
              <a:t>WHY this approach?</a:t>
            </a:r>
          </a:p>
          <a:p>
            <a:pPr>
              <a:spcBef>
                <a:spcPts val="400"/>
              </a:spcBef>
              <a:defRPr sz="8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500" b="0">
                <a:solidFill>
                  <a:srgbClr val="FF6B6B"/>
                </a:solidFill>
              </a:defRPr>
            </a:pPr>
            <a:r>
              <a:t>Leiden: semantic signal fails alone</a:t>
            </a:r>
          </a:p>
          <a:p>
            <a:pPr>
              <a:spcBef>
                <a:spcPts val="400"/>
              </a:spcBef>
              <a:defRPr sz="1500" b="0">
                <a:solidFill>
                  <a:srgbClr val="FF6B6B"/>
                </a:solidFill>
              </a:defRPr>
            </a:pPr>
            <a:r>
              <a:t>RSI-LCR: structural signal fails alone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600" b="0">
                <a:solidFill>
                  <a:srgbClr val="FFFFFF"/>
                </a:solidFill>
              </a:defRPr>
            </a:pPr>
            <a:r>
              <a:t>Key insight: FUSE both signals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LLM knows WHAT it is; graph VERIFIES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280160"/>
            <a:ext cx="3383280" cy="30175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2628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E676"/>
                </a:solidFill>
              </a:defRPr>
            </a:pPr>
            <a:r>
              <a:t>HOW it works</a:t>
            </a:r>
          </a:p>
          <a:p>
            <a:pPr>
              <a:spcBef>
                <a:spcPts val="400"/>
              </a:spcBef>
              <a:defRPr sz="8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1. Detect domain from entity names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2. LLM proposes ontology classes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3. LLM assigns entities to classes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4. Structural signatures verify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5. LLM arbitrates disagreements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6. Consolidate fine-grained classes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280160"/>
            <a:ext cx="3383280" cy="3017520"/>
          </a:xfrm>
          <a:prstGeom prst="roundRect">
            <a:avLst/>
          </a:prstGeom>
          <a:solidFill>
            <a:srgbClr val="16213E"/>
          </a:solidFill>
          <a:ln w="381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1371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RESULTS</a:t>
            </a:r>
          </a:p>
          <a:p>
            <a:pPr>
              <a:spcBef>
                <a:spcPts val="600"/>
              </a:spcBef>
              <a:defRPr sz="10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2000" b="1">
                <a:solidFill>
                  <a:srgbClr val="00E676"/>
                </a:solidFill>
              </a:defRPr>
            </a:pPr>
            <a:r>
              <a:t>Name F1:       0.563</a:t>
            </a:r>
          </a:p>
          <a:p>
            <a:pPr>
              <a:spcBef>
                <a:spcPts val="600"/>
              </a:spcBef>
              <a:defRPr sz="2000" b="1">
                <a:solidFill>
                  <a:srgbClr val="00E676"/>
                </a:solidFill>
              </a:defRPr>
            </a:pPr>
            <a:r>
              <a:t>BERTScore F1:  0.732</a:t>
            </a:r>
          </a:p>
          <a:p>
            <a:pPr>
              <a:spcBef>
                <a:spcPts val="600"/>
              </a:spcBef>
              <a:defRPr sz="2000" b="1">
                <a:solidFill>
                  <a:srgbClr val="00E676"/>
                </a:solidFill>
              </a:defRPr>
            </a:pPr>
            <a:r>
              <a:t>Graph F1:      0.714</a:t>
            </a:r>
          </a:p>
          <a:p>
            <a:pPr>
              <a:spcBef>
                <a:spcPts val="600"/>
              </a:spcBef>
              <a:defRPr sz="8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1600" b="0">
                <a:solidFill>
                  <a:srgbClr val="FFFFFF"/>
                </a:solidFill>
              </a:defRPr>
            </a:pPr>
            <a:r>
              <a:t>7 clean classes (vs 30)</a:t>
            </a:r>
          </a:p>
          <a:p>
            <a:pPr>
              <a:spcBef>
                <a:spcPts val="600"/>
              </a:spcBef>
              <a:defRPr sz="1600" b="0">
                <a:solidFill>
                  <a:srgbClr val="FFFFFF"/>
                </a:solidFill>
              </a:defRPr>
            </a:pPr>
            <a:r>
              <a:t>5/10 Riskine matched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0E676"/>
                </a:solidFill>
              </a:defRPr>
            </a:pPr>
            <a:r>
              <a:t>Fuses LLM semantic typing with graph structural verification.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03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00D2FF"/>
                </a:solidFill>
              </a:defRPr>
            </a:pPr>
            <a:r>
              <a:t>Wins on EVERY metric vs both Leiden and RSI-LCR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SV-LOI Outperforms on Every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</a:defRPr>
            </a:pPr>
            <a:r>
              <a:t>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12801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2FF"/>
                </a:solidFill>
              </a:defRPr>
            </a:pPr>
            <a:r>
              <a:t>Leiden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801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2FF"/>
                </a:solidFill>
              </a:defRPr>
            </a:pPr>
            <a:r>
              <a:t>RSI-LCR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2801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2FF"/>
                </a:solidFill>
              </a:defRPr>
            </a:pPr>
            <a:r>
              <a:t>SV-LOI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91639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Name 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691639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0.000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91639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0.295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691639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E676"/>
                </a:solidFill>
              </a:defRPr>
            </a:pPr>
            <a:r>
              <a:t>0.563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1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BERTScore F1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21031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0.451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0.577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1031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E676"/>
                </a:solidFill>
              </a:defRPr>
            </a:pPr>
            <a:r>
              <a:t>0.732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5146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Graph F1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5146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0.441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5146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0.501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5146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E676"/>
                </a:solidFill>
              </a:defRPr>
            </a:pPr>
            <a:r>
              <a:t>0.714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9260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Entity Assign F1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9260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0.226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9260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0.302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9260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E676"/>
                </a:solidFill>
              </a:defRPr>
            </a:pPr>
            <a:r>
              <a:t>0.326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3375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Wu-Palmer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33375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0.653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3375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0.723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3375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E676"/>
                </a:solidFill>
              </a:defRPr>
            </a:pPr>
            <a:r>
              <a:t>0.752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3749039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Induced classes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3749039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49039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3749039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E676"/>
                </a:solidFill>
              </a:defRPr>
            </a:pPr>
            <a: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All methods use same extraction (qwen2.5:72b, 1,351 entities)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120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Metrics follow OLLM (NeurIPS'24) evaluation protocol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Induced Ontology vs Riskine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2FF"/>
                </a:solidFill>
              </a:defRPr>
            </a:pPr>
            <a:r>
              <a:t>Induced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188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2FF"/>
                </a:solidFill>
              </a:defRPr>
            </a:pPr>
            <a:r>
              <a:t>Riskine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88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2FF"/>
                </a:solidFill>
              </a:defRPr>
            </a:pPr>
            <a:r>
              <a:t>Match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645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E676"/>
                </a:solidFill>
              </a:defRPr>
            </a:pPr>
            <a:r>
              <a:t>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Product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057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Product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057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E676"/>
                </a:solidFill>
              </a:defRPr>
            </a:pPr>
            <a:r>
              <a:t>MATCH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Property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Property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E676"/>
                </a:solidFill>
              </a:defRPr>
            </a:pPr>
            <a:r>
              <a:t>MATCH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880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880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880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9F43"/>
                </a:solidFill>
              </a:defRPr>
            </a:pPr>
            <a:r>
              <a:t>PARTIAL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291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Address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291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Address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291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E676"/>
                </a:solidFill>
              </a:defRPr>
            </a:pPr>
            <a:r>
              <a:t>MATCH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703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Requirement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703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703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6B6B"/>
                </a:solidFill>
              </a:defRPr>
            </a:pPr>
            <a: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114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Occupancy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114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114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6B6B"/>
                </a:solidFill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E676"/>
                </a:solidFill>
              </a:defRPr>
            </a:pPr>
            <a:r>
              <a:t>5/10 Riskine classes matched — without ever seeing Riskine during induction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Person, Organization, Object absent from flood data (expected)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1. Extraction scales with model size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</a:defRPr>
            </a:pPr>
            <a:r>
              <a:t>8b: 1 triple/chunk → 72b: 8-50 triples/chunk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9F43"/>
                </a:solidFill>
              </a:defRPr>
            </a:pPr>
            <a:r>
              <a:t>2. LLMs default to data-type thinking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</a:defRPr>
            </a:pPr>
            <a:r>
              <a:t>First attempt: 'FinancialAmount' → Fixed with two-stage discovery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9F43"/>
                </a:solidFill>
              </a:defRPr>
            </a:pPr>
            <a:r>
              <a:t>3. Name-matching F1 is a poor 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</a:defRPr>
            </a:pPr>
            <a:r>
              <a:t>Rewards naming convention, not semantics → Use BERTScore 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754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CCCC"/>
                </a:solidFill>
              </a:defRPr>
            </a:pPr>
            <a:r>
              <a:t>4. Source data limits recall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212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</a:defRPr>
            </a:pPr>
            <a:r>
              <a:t>Flood has no Person/Org → Present-class F1 for fair comparison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Next Steps (Weeks 10-11)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Reduce unclassified 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00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</a:defRPr>
            </a:pPr>
            <a:r>
              <a:t>24% → &lt;5% (rescue step implemented)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9F43"/>
                </a:solidFill>
              </a:defRPr>
            </a:pPr>
            <a:r>
              <a:t>Cross-domain transfer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606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</a:defRPr>
            </a:pPr>
            <a:r>
              <a:t>Run identical pipeline on auto insurance, zero code changes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00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9F43"/>
                </a:solidFill>
              </a:defRPr>
            </a:pPr>
            <a:r>
              <a:t>CTR/PTR measurement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611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</a:defRPr>
            </a:pPr>
            <a:r>
              <a:t>How many classes transfer between flood and auto?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CCCC"/>
                </a:solidFill>
              </a:defRPr>
            </a:pPr>
            <a:r>
              <a:t>Paper writing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617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</a:defRPr>
            </a:pPr>
            <a:r>
              <a:t>Targeting peer-reviewed 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212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CCCC"/>
                </a:solidFill>
              </a:defRPr>
            </a:pPr>
            <a:r>
              <a:t>Streamlit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623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</a:defRPr>
            </a:pPr>
            <a:r>
              <a:t>Interactive ontology exploration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D2FF"/>
                </a:solidFill>
              </a:defRPr>
            </a:pPr>
            <a: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github.com/xiw-1202/Agentic-Data-Fusion-for-Insurance-Knowledge-Graphs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Advisor: Dr. Yingying Kang (Assurant)  |  GPU: Emory Turing (2× RTX 8000)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0"/>
              </a:spcBef>
              <a:defRPr sz="2000" b="0">
                <a:solidFill>
                  <a:srgbClr val="FFFFFF"/>
                </a:solidFill>
              </a:defRPr>
            </a:pPr>
            <a:r>
              <a:t>Domain-agnostic pipeline that automatically induces ontology classes</a:t>
            </a:r>
          </a:p>
          <a:p>
            <a:pPr>
              <a:spcBef>
                <a:spcPts val="600"/>
              </a:spcBef>
              <a:defRPr sz="2200" b="1">
                <a:solidFill>
                  <a:srgbClr val="00E676"/>
                </a:solidFill>
              </a:defRPr>
            </a:pPr>
            <a:r>
              <a:t>SV-LOI: 0.732 BERTScore F1 | 0.714 Graph F1</a:t>
            </a:r>
          </a:p>
          <a:p>
            <a:pPr>
              <a:spcBef>
                <a:spcPts val="600"/>
              </a:spcBef>
              <a:defRPr sz="1800" b="0">
                <a:solidFill>
                  <a:srgbClr val="CCCCCC"/>
                </a:solidFill>
              </a:defRPr>
            </a:pPr>
            <a:r>
              <a:t>Without ever seeing the reference ontology during induction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975</Words>
  <Application>Microsoft Macintosh PowerPoint</Application>
  <PresentationFormat>Widescreen</PresentationFormat>
  <Paragraphs>230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Wang, Xiaofei</cp:lastModifiedBy>
  <cp:revision>2</cp:revision>
  <dcterms:created xsi:type="dcterms:W3CDTF">2013-01-27T09:14:16Z</dcterms:created>
  <dcterms:modified xsi:type="dcterms:W3CDTF">2026-03-25T02:39:31Z</dcterms:modified>
  <cp:category/>
</cp:coreProperties>
</file>