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2FF"/>
                </a:solidFill>
              </a:defRPr>
            </a:pPr>
            <a:r>
              <a:t>Schema-Evolving Knowledge 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</a:defRPr>
            </a:pPr>
            <a:r>
              <a:t>Automated Ontology Induction with Cross-Domain Transfer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</a:defRPr>
            </a:pPr>
            <a:r>
              <a:t>Xiaofei Wang  ·  Zechary Chou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CS 584 AI Capstone  ·  Emory University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Advisor: Dr. Yingying Kang (Assurant)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The Ontology Engineering Bottleneck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Insurance companies expanding into new LOBs face a 3–6 month bottleneck per domain:</a:t>
            </a:r>
          </a:p>
          <a:p>
            <a:pPr>
              <a:spcBef>
                <a:spcPts val="600"/>
              </a:spcBef>
              <a:defRPr sz="800" b="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1800" b="0">
                <a:solidFill>
                  <a:srgbClr val="CCCCCC"/>
                </a:solidFill>
              </a:defRPr>
            </a:pPr>
            <a:r>
              <a:t>  Manual expert labor per domain</a:t>
            </a:r>
          </a:p>
          <a:p>
            <a:pPr>
              <a:spcBef>
                <a:spcPts val="600"/>
              </a:spcBef>
              <a:defRPr sz="1800" b="0">
                <a:solidFill>
                  <a:srgbClr val="CCCCCC"/>
                </a:solidFill>
              </a:defRPr>
            </a:pPr>
            <a:r>
              <a:t>  Cost grows linearly with LOBs</a:t>
            </a:r>
          </a:p>
          <a:p>
            <a:pPr>
              <a:spcBef>
                <a:spcPts val="600"/>
              </a:spcBef>
              <a:defRPr sz="1800" b="0">
                <a:solidFill>
                  <a:srgbClr val="CCCCCC"/>
                </a:solidFill>
              </a:defRPr>
            </a:pPr>
            <a:r>
              <a:t>  No structure reuse across domains</a:t>
            </a:r>
          </a:p>
          <a:p>
            <a:pPr>
              <a:spcBef>
                <a:spcPts val="600"/>
              </a:spcBef>
              <a:defRPr sz="800" b="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2000" b="1">
                <a:solidFill>
                  <a:srgbClr val="FFFFFF"/>
                </a:solidFill>
              </a:defRPr>
            </a:pPr>
            <a:r>
              <a:t>LLMGraphTransformer extracts KGs, but: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>
              <a:spcBef>
                <a:spcPts val="0"/>
              </a:spcBef>
              <a:defRPr sz="2000" b="1">
                <a:solidFill>
                  <a:srgbClr val="FF9F43"/>
                </a:solidFill>
              </a:defRPr>
            </a:pPr>
            <a:r>
              <a:t>Current tool problems:</a:t>
            </a:r>
          </a:p>
          <a:p>
            <a:pPr>
              <a:spcBef>
                <a:spcPts val="6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1800" b="0">
                <a:solidFill>
                  <a:srgbClr val="FF6B6B"/>
                </a:solidFill>
              </a:defRPr>
            </a:pPr>
            <a:r>
              <a:t>  Entity duplication</a:t>
            </a:r>
          </a:p>
          <a:p>
            <a:pPr>
              <a:spcBef>
                <a:spcPts val="6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1800" b="0">
                <a:solidFill>
                  <a:srgbClr val="FF6B6B"/>
                </a:solidFill>
              </a:defRPr>
            </a:pPr>
            <a:r>
              <a:t>  Type proliferation</a:t>
            </a:r>
          </a:p>
          <a:p>
            <a:pPr>
              <a:spcBef>
                <a:spcPts val="6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1800" b="0">
                <a:solidFill>
                  <a:srgbClr val="FF6B6B"/>
                </a:solidFill>
              </a:defRPr>
            </a:pPr>
            <a:r>
              <a:t>  No ontology hierarchy</a:t>
            </a:r>
          </a:p>
          <a:p>
            <a:pPr>
              <a:spcBef>
                <a:spcPts val="6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1800" b="0">
                <a:solidFill>
                  <a:srgbClr val="FF6B6B"/>
                </a:solidFill>
              </a:defRPr>
            </a:pPr>
            <a:r>
              <a:t>  No cross-domain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E676"/>
                </a:solidFill>
              </a:defRPr>
            </a:pPr>
            <a:r>
              <a:t>Can we automate ontology induction?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4-Zone Domain-Agnostic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560320" cy="32004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E676"/>
                </a:solidFill>
              </a:defRPr>
            </a:pPr>
            <a:r>
              <a:t>Zone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Ingestion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PDF + CSV</a:t>
            </a:r>
            <a:br/>
            <a:r>
              <a:t>Section-aware</a:t>
            </a:r>
            <a:br/>
            <a:r>
              <a:t>chunking</a:t>
            </a:r>
            <a:br/>
            <a:r>
              <a:t>τ = 0.85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D2FF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371600"/>
            <a:ext cx="2560320" cy="32004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E676"/>
                </a:solidFill>
              </a:defRPr>
            </a:pPr>
            <a:r>
              <a:t>Zone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828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Extraction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4688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Bootstrap vocab</a:t>
            </a:r>
            <a:br/>
            <a:r>
              <a:t>from documents</a:t>
            </a:r>
            <a:br/>
            <a:r>
              <a:t>1-pass extraction</a:t>
            </a:r>
            <a:br/>
            <a:r>
              <a:t>Entity resolution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D2FF"/>
                </a:solidFill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371600"/>
            <a:ext cx="2560320" cy="32004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9F43"/>
                </a:solidFill>
              </a:defRPr>
            </a:pPr>
            <a:r>
              <a:t>Zone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828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Ontology</a:t>
            </a:r>
            <a:br/>
            <a:r>
              <a:t>Induction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688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SV-LOI (novel)</a:t>
            </a:r>
            <a:br/>
            <a:r>
              <a:t>LLM typing +</a:t>
            </a:r>
            <a:br/>
            <a:r>
              <a:t>Structural</a:t>
            </a:r>
            <a:br/>
            <a:r>
              <a:t>verification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D2FF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371600"/>
            <a:ext cx="2560320" cy="32004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CCCCC"/>
                </a:solidFill>
              </a:defRPr>
            </a:pPr>
            <a:r>
              <a:t>Zone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1828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Storage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4688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Neo4j</a:t>
            </a:r>
            <a:br/>
            <a:r>
              <a:t>3-layer graph</a:t>
            </a:r>
            <a:br/>
            <a:r>
              <a:t>SUBCLASS_OF</a:t>
            </a:r>
            <a:br/>
            <a:r>
              <a:t>hierarchy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E676"/>
                </a:solidFill>
              </a:defRPr>
            </a:pPr>
            <a:r>
              <a:t>Zero domain-specific code — same pipeline runs on flood AND auto insurance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Zone 2: Extraction is 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E676"/>
                </a:solidFill>
              </a:defRPr>
            </a:pPr>
            <a:r>
              <a:t>1,351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Entities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3716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E676"/>
                </a:solidFill>
              </a:defRPr>
            </a:pPr>
            <a:r>
              <a:t>1,749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2103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E676"/>
                </a:solidFill>
              </a:defRPr>
            </a:pPr>
            <a:r>
              <a:t>95%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03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Query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13716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E676"/>
                </a:solidFill>
              </a:defRPr>
            </a:pPr>
            <a:r>
              <a:t>188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2103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Chunks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>
              <a:spcBef>
                <a:spcPts val="0"/>
              </a:spcBef>
              <a:defRPr sz="1800" b="0">
                <a:solidFill>
                  <a:srgbClr val="CCCCCC"/>
                </a:solidFill>
              </a:defRPr>
            </a:pPr>
            <a:r>
              <a:t>Model: qwen2.5:72b on Emory Turing GPU cluster (2× RTX 8000)</a:t>
            </a:r>
          </a:p>
          <a:p>
            <a:pPr>
              <a:spcBef>
                <a:spcPts val="600"/>
              </a:spcBef>
              <a:defRPr sz="1800" b="0">
                <a:solidFill>
                  <a:srgbClr val="CCCCCC"/>
                </a:solidFill>
              </a:defRPr>
            </a:pPr>
            <a:r>
              <a:t>Domain-agnostic: bootstrapped 20 entity types + 45 relation types from documents</a:t>
            </a:r>
          </a:p>
          <a:p>
            <a:pPr>
              <a:spcBef>
                <a:spcPts val="600"/>
              </a:spcBef>
              <a:defRPr sz="800" b="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2200" b="1">
                <a:solidFill>
                  <a:srgbClr val="FF9F43"/>
                </a:solidFill>
              </a:defRPr>
            </a:pPr>
            <a:r>
              <a:t>Takeaway: Extraction is excellent. The bottleneck is ontology induction.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Zone 3: Three Ontology Induction Methods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3474720" cy="36576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CCCCC"/>
                </a:solidFill>
              </a:defRPr>
            </a:pPr>
            <a:r>
              <a:t>A: Leiden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CCCCC"/>
                </a:solidFill>
              </a:defRPr>
            </a:pPr>
            <a:r>
              <a:t>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Community detection</a:t>
            </a:r>
            <a:br/>
            <a:r>
              <a:t>on similarity graph</a:t>
            </a:r>
            <a:br/>
            <a:br/>
            <a:r>
              <a:t>Clusters are</a:t>
            </a:r>
            <a:br/>
            <a:r>
              <a:t>semantically impure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59" y="1188720"/>
            <a:ext cx="3474720" cy="36576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1999" y="12801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CCCCC"/>
                </a:solidFill>
              </a:defRPr>
            </a:pPr>
            <a:r>
              <a:t>B: RSI-LCR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99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CCCCC"/>
                </a:solidFill>
              </a:defRPr>
            </a:pPr>
            <a:r>
              <a:t>Structural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19456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Group by relation-</a:t>
            </a:r>
            <a:br/>
            <a:r>
              <a:t>type signatures</a:t>
            </a:r>
            <a:br/>
            <a:br/>
            <a:r>
              <a:t>Better separation</a:t>
            </a:r>
            <a:br/>
            <a:r>
              <a:t>but over-fragments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188720"/>
            <a:ext cx="3474720" cy="36576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2801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E676"/>
                </a:solidFill>
              </a:defRPr>
            </a:pPr>
            <a:r>
              <a:t>C: SV-LOI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9F43"/>
                </a:solidFill>
              </a:defRPr>
            </a:pPr>
            <a:r>
              <a:t>Novel 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19456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LLM class discovery</a:t>
            </a:r>
            <a:br/>
            <a:r>
              <a:t>+ structural verify</a:t>
            </a:r>
            <a:br/>
            <a:r>
              <a:t>+ consolidation</a:t>
            </a:r>
            <a:br/>
            <a:br/>
            <a:r>
              <a:t>Fuses both signals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2FF"/>
                </a:solidFill>
              </a:defRPr>
            </a:pPr>
            <a:r>
              <a:t>Key insight: Neither semantic (LLM) nor structural (graph) signal alone is sufficient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</a:defRPr>
            </a:pPr>
            <a:r>
              <a:t>Method A: Leiden — Why, What It Solved, Why It Failed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CCCCC"/>
                </a:solidFill>
              </a:defRPr>
            </a:pPr>
            <a:r>
              <a:t>BASELINE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383280" cy="27432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</a:defRPr>
            </a:pPr>
            <a:r>
              <a:t>WHY this approach?</a:t>
            </a:r>
          </a:p>
          <a:p>
            <a:pPr>
              <a:spcBef>
                <a:spcPts val="400"/>
              </a:spcBef>
              <a:defRPr sz="8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Standard graph clustering — group similar entities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t>SOTA community detection (Traag 2019)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t>Natural first attempt: similarity → cluster → name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280160"/>
            <a:ext cx="3383280" cy="27432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676"/>
                </a:solidFill>
              </a:defRPr>
            </a:pPr>
            <a:r>
              <a:t>WHAT it solved</a:t>
            </a:r>
          </a:p>
          <a:p>
            <a:pPr>
              <a:spcBef>
                <a:spcPts val="400"/>
              </a:spcBef>
              <a:defRPr sz="8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Found 11 clusters from 1,351 entities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Produced SUBCLASS_OF hierarchy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Proved bottom-up induction is feasible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280160"/>
            <a:ext cx="3383280" cy="27432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</a:defRPr>
            </a:pPr>
            <a:r>
              <a:t>WHY it failed</a:t>
            </a:r>
          </a:p>
          <a:p>
            <a:pPr>
              <a:spcBef>
                <a:spcPts val="400"/>
              </a:spcBef>
              <a:defRPr sz="8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</a:defRPr>
            </a:pPr>
            <a:r>
              <a:t>Clusters are impure — 'Hazard' mixes coverages, buildings, perils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500" b="0">
                <a:solidFill>
                  <a:srgbClr val="FF6B6B"/>
                </a:solidFill>
              </a:defRPr>
            </a:pPr>
            <a:r>
              <a:t>Name F1 = 0.000 (zero names match)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0">
                <a:solidFill>
                  <a:srgbClr val="FF9F43"/>
                </a:solidFill>
              </a:defRPr>
            </a:pPr>
            <a:r>
              <a:t>Embedding similarity ≠ ontological similarity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FF9F43"/>
                </a:solidFill>
              </a:defRPr>
            </a:pPr>
            <a:r>
              <a:t>Lesson: Entities that LOOK alike are not necessarily the same THING.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BERTScore F1: 0.451  |  Graph F1: 0.441  |  Name F1: 0.000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</a:defRPr>
            </a:pPr>
            <a:r>
              <a:t>Method B: RSI-LCR — Why, What It Solved, Why It Fell Short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CCCCC"/>
                </a:solidFill>
              </a:defRPr>
            </a:pPr>
            <a:r>
              <a:t>RELATION-SIGNATURE INDUCTION + LLM COHERENCE REFINEMENT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383280" cy="27432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</a:defRPr>
            </a:pPr>
            <a:r>
              <a:t>WHY this approach?</a:t>
            </a:r>
          </a:p>
          <a:p>
            <a:pPr>
              <a:spcBef>
                <a:spcPts val="400"/>
              </a:spcBef>
              <a:defRPr sz="8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Fix Leiden: use RELATIONS not names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t>Same-class entities have same relation types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300" b="0">
                <a:solidFill>
                  <a:srgbClr val="CCCCCC"/>
                </a:solidFill>
              </a:defRPr>
            </a:pPr>
            <a:r>
              <a:t>"Coverage" → COVERS, HAS_LIMIT</a:t>
            </a:r>
            <a:br/>
            <a:r>
              <a:t>"Person" → HAS_NAME, RESIDES_AT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280160"/>
            <a:ext cx="3383280" cy="27432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676"/>
                </a:solidFill>
              </a:defRPr>
            </a:pPr>
            <a:r>
              <a:t>WHAT it solved</a:t>
            </a:r>
          </a:p>
          <a:p>
            <a:pPr>
              <a:spcBef>
                <a:spcPts val="400"/>
              </a:spcBef>
              <a:defRPr sz="8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Better separation than Leiden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500" b="0">
                <a:solidFill>
                  <a:srgbClr val="00E676"/>
                </a:solidFill>
              </a:defRPr>
            </a:pPr>
            <a:r>
              <a:t>Name F1: 0.000 → 0.295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Found Coverage, Risk, Property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LLM coherence catches bad clusters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280160"/>
            <a:ext cx="3383280" cy="27432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</a:defRPr>
            </a:pPr>
            <a:r>
              <a:t>WHY it fell short</a:t>
            </a:r>
          </a:p>
          <a:p>
            <a:pPr>
              <a:spcBef>
                <a:spcPts val="400"/>
              </a:spcBef>
              <a:defRPr sz="8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Over-fragments: 30 clusters (too many)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</a:defRPr>
            </a:pPr>
            <a:r>
              <a:t>Dense graph → signatures overlap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300" b="0">
                <a:solidFill>
                  <a:srgbClr val="FF9F43"/>
                </a:solidFill>
              </a:defRPr>
            </a:pPr>
            <a:r>
              <a:t>Structural signal alone can't distinguish ontological 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FF9F43"/>
                </a:solidFill>
              </a:defRPr>
            </a:pPr>
            <a:r>
              <a:t>Lesson: Relation patterns tell you how entities BEHAVE, not what they 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BERTScore F1: 0.577  |  Graph F1: 0.501  |  Name F1: 0.295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</a:defRPr>
            </a:pPr>
            <a:r>
              <a:t>Method C: SV-LOI — Our Novel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</a:defRPr>
            </a:pPr>
            <a:r>
              <a:t>STRUCTURALLY-VERIFIED LLM ONTOLOGY INDUCTION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383280" cy="30175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</a:defRPr>
            </a:pPr>
            <a:r>
              <a:t>WHY this approach?</a:t>
            </a:r>
          </a:p>
          <a:p>
            <a:pPr>
              <a:spcBef>
                <a:spcPts val="400"/>
              </a:spcBef>
              <a:defRPr sz="8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500" b="0">
                <a:solidFill>
                  <a:srgbClr val="FF6B6B"/>
                </a:solidFill>
              </a:defRPr>
            </a:pPr>
            <a:r>
              <a:t>Leiden: semantic signal fails alone</a:t>
            </a:r>
          </a:p>
          <a:p>
            <a:pPr>
              <a:spcBef>
                <a:spcPts val="400"/>
              </a:spcBef>
              <a:defRPr sz="1500" b="0">
                <a:solidFill>
                  <a:srgbClr val="FF6B6B"/>
                </a:solidFill>
              </a:defRPr>
            </a:pPr>
            <a:r>
              <a:t>RSI-LCR: structural signal fails alone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600" b="0">
                <a:solidFill>
                  <a:srgbClr val="FFFFFF"/>
                </a:solidFill>
              </a:defRPr>
            </a:pPr>
            <a:r>
              <a:t>Key insight: FUSE both signals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LLM knows WHAT it is; graph VERIFIES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280160"/>
            <a:ext cx="3383280" cy="30175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676"/>
                </a:solidFill>
              </a:defRPr>
            </a:pPr>
            <a:r>
              <a:t>HOW it works</a:t>
            </a:r>
          </a:p>
          <a:p>
            <a:pPr>
              <a:spcBef>
                <a:spcPts val="400"/>
              </a:spcBef>
              <a:defRPr sz="8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1. Detect domain from entity names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2. LLM proposes ontology classes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3. LLM assigns entities to classes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4. Structural signatures verify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5. LLM arbitrates disagreements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6. Consolidate fine-grained classes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280160"/>
            <a:ext cx="3383280" cy="3017520"/>
          </a:xfrm>
          <a:prstGeom prst="roundRect">
            <a:avLst/>
          </a:prstGeom>
          <a:solidFill>
            <a:srgbClr val="16213E"/>
          </a:solidFill>
          <a:ln w="381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RESULTS</a:t>
            </a:r>
          </a:p>
          <a:p>
            <a:pPr>
              <a:spcBef>
                <a:spcPts val="600"/>
              </a:spcBef>
              <a:defRPr sz="1000" b="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2000" b="1">
                <a:solidFill>
                  <a:srgbClr val="00E676"/>
                </a:solidFill>
              </a:defRPr>
            </a:pPr>
            <a:r>
              <a:t>Name F1:       0.563</a:t>
            </a:r>
          </a:p>
          <a:p>
            <a:pPr>
              <a:spcBef>
                <a:spcPts val="600"/>
              </a:spcBef>
              <a:defRPr sz="2000" b="1">
                <a:solidFill>
                  <a:srgbClr val="00E676"/>
                </a:solidFill>
              </a:defRPr>
            </a:pPr>
            <a:r>
              <a:t>BERTScore F1:  0.732</a:t>
            </a:r>
          </a:p>
          <a:p>
            <a:pPr>
              <a:spcBef>
                <a:spcPts val="600"/>
              </a:spcBef>
              <a:defRPr sz="2000" b="1">
                <a:solidFill>
                  <a:srgbClr val="00E676"/>
                </a:solidFill>
              </a:defRPr>
            </a:pPr>
            <a:r>
              <a:t>Graph F1:      0.714</a:t>
            </a:r>
          </a:p>
          <a:p>
            <a:pPr>
              <a:spcBef>
                <a:spcPts val="600"/>
              </a:spcBef>
              <a:defRPr sz="800" b="0">
                <a:solidFill>
                  <a:srgbClr val="FFFFFF"/>
                </a:solidFill>
              </a:defRPr>
            </a:pPr>
          </a:p>
          <a:p>
            <a:pPr>
              <a:spcBef>
                <a:spcPts val="600"/>
              </a:spcBef>
              <a:defRPr sz="1600" b="0">
                <a:solidFill>
                  <a:srgbClr val="FFFFFF"/>
                </a:solidFill>
              </a:defRPr>
            </a:pPr>
            <a:r>
              <a:t>7 clean classes (vs 30)</a:t>
            </a:r>
          </a:p>
          <a:p>
            <a:pPr>
              <a:spcBef>
                <a:spcPts val="600"/>
              </a:spcBef>
              <a:defRPr sz="1600" b="0">
                <a:solidFill>
                  <a:srgbClr val="FFFFFF"/>
                </a:solidFill>
              </a:defRPr>
            </a:pPr>
            <a:r>
              <a:t>5/10 Riskine matched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0E676"/>
                </a:solidFill>
              </a:defRPr>
            </a:pPr>
            <a:r>
              <a:t>Fuses LLM semantic typing with graph structural verification.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00D2FF"/>
                </a:solidFill>
              </a:defRPr>
            </a:pPr>
            <a:r>
              <a:t>Wins on EVERY metric vs both Leiden and RSI-LCR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SV-LOI Outperforms on Every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</a:defRPr>
            </a:pPr>
            <a:r>
              <a:t>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12801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2FF"/>
                </a:solidFill>
              </a:defRPr>
            </a:pPr>
            <a:r>
              <a:t>Leiden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801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2FF"/>
                </a:solidFill>
              </a:defRPr>
            </a:pPr>
            <a:r>
              <a:t>RSI-LCR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2801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2FF"/>
                </a:solidFill>
              </a:defRPr>
            </a:pPr>
            <a:r>
              <a:t>SV-LOI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91639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Name 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69163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0.000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9163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0.295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69163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</a:defRPr>
            </a:pPr>
            <a:r>
              <a:t>0.563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1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BERTScore 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21031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0.451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0.577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1031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</a:defRPr>
            </a:pPr>
            <a:r>
              <a:t>0.732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5146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Graph F1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5146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0.441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146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0.501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5146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</a:defRPr>
            </a:pPr>
            <a:r>
              <a:t>0.714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9260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Entity Assign F1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9260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0.226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9260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0.302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9260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</a:defRPr>
            </a:pPr>
            <a:r>
              <a:t>0.326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3375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Wu-Palmer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33375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0.653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3375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0.723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3375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</a:defRPr>
            </a:pPr>
            <a:r>
              <a:t>0.752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749039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Induced classes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374903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4903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374903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</a:defRPr>
            </a:pPr>
            <a: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All methods use same extraction (qwen2.5:72b, 1,351 entities)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120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Metrics follow OLLM (NeurIPS'24) evaluation protocol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Induced Ontology vs Riskine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2FF"/>
                </a:solidFill>
              </a:defRPr>
            </a:pPr>
            <a:r>
              <a:t>Induced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2FF"/>
                </a:solidFill>
              </a:defRPr>
            </a:pPr>
            <a:r>
              <a:t>Riskine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2FF"/>
                </a:solidFill>
              </a:defRPr>
            </a:pPr>
            <a:r>
              <a:t>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645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</a:defRPr>
            </a:pPr>
            <a:r>
              <a:t>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Product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057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Product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057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</a:defRPr>
            </a:pPr>
            <a:r>
              <a:t>MATCH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Property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Property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</a:defRPr>
            </a:pPr>
            <a:r>
              <a:t>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80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880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880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9F43"/>
                </a:solidFill>
              </a:defRPr>
            </a:pPr>
            <a:r>
              <a:t>PARTIAL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Address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Address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76"/>
                </a:solidFill>
              </a:defRPr>
            </a:pPr>
            <a:r>
              <a:t>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03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Requirement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703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703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6B6B"/>
                </a:solidFill>
              </a:defRPr>
            </a:pPr>
            <a: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Occupancy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6B6B"/>
                </a:solidFill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E676"/>
                </a:solidFill>
              </a:defRPr>
            </a:pPr>
            <a:r>
              <a:t>5/10 Riskine classes matched — without ever seeing Riskine during induction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Person, Organization, Object absent from flood data (expected)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1. Extraction scales with model size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</a:defRPr>
            </a:pPr>
            <a:r>
              <a:t>8b: 1 triple/chunk → 72b: 8-50 triples/chunk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43"/>
                </a:solidFill>
              </a:defRPr>
            </a:pPr>
            <a:r>
              <a:t>2. LLMs default to data-type thinking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</a:defRPr>
            </a:pPr>
            <a:r>
              <a:t>First attempt: 'FinancialAmount' → Fixed with two-stage 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43"/>
                </a:solidFill>
              </a:defRPr>
            </a:pPr>
            <a:r>
              <a:t>3. Name-matching F1 is a poor 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</a:defRPr>
            </a:pPr>
            <a:r>
              <a:t>Rewards naming convention, not semantics → Use BERTScore 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754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CCCC"/>
                </a:solidFill>
              </a:defRPr>
            </a:pPr>
            <a:r>
              <a:t>4. Source data limits recall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212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</a:defRPr>
            </a:pPr>
            <a:r>
              <a:t>Flood has no Person/Org → Present-class F1 for fair comparison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Next Steps (Weeks 10-11)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Reduce unclassified 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00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</a:defRPr>
            </a:pPr>
            <a:r>
              <a:t>24% → &lt;5% (rescue step implemented)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43"/>
                </a:solidFill>
              </a:defRPr>
            </a:pPr>
            <a:r>
              <a:t>Cross-domain transfer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606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</a:defRPr>
            </a:pPr>
            <a:r>
              <a:t>Run identical pipeline on auto insurance, zero code changes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00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43"/>
                </a:solidFill>
              </a:defRPr>
            </a:pPr>
            <a:r>
              <a:t>CTR/PTR measurement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611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</a:defRPr>
            </a:pPr>
            <a:r>
              <a:t>How many classes transfer between flood and auto?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CCCC"/>
                </a:solidFill>
              </a:defRPr>
            </a:pPr>
            <a:r>
              <a:t>Paper writing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617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</a:defRPr>
            </a:pPr>
            <a:r>
              <a:t>Targeting peer-reviewed 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212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CCCC"/>
                </a:solidFill>
              </a:defRPr>
            </a:pPr>
            <a:r>
              <a:t>Streamlit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623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</a:defRPr>
            </a:pPr>
            <a:r>
              <a:t>Interactive ontology exploration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2FF"/>
                </a:solidFill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github.com/xiw-1202/Agentic-Data-Fusion-for-Insurance-Knowledge-Graphs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Advisor: Dr. Yingying Kang (Assurant)  |  GPU: Emory Turing (2× RTX 8000)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</a:p>
          <a:p>
            <a:pPr>
              <a:spcBef>
                <a:spcPts val="0"/>
              </a:spcBef>
              <a:defRPr sz="2000" b="0">
                <a:solidFill>
                  <a:srgbClr val="FFFFFF"/>
                </a:solidFill>
              </a:defRPr>
            </a:pPr>
            <a:r>
              <a:t>Domain-agnostic pipeline that automatically induces ontology classes</a:t>
            </a:r>
          </a:p>
          <a:p>
            <a:pPr>
              <a:spcBef>
                <a:spcPts val="600"/>
              </a:spcBef>
              <a:defRPr sz="2200" b="1">
                <a:solidFill>
                  <a:srgbClr val="00E676"/>
                </a:solidFill>
              </a:defRPr>
            </a:pPr>
            <a:r>
              <a:t>SV-LOI: 0.732 BERTScore F1 | 0.714 Graph F1</a:t>
            </a:r>
          </a:p>
          <a:p>
            <a:pPr>
              <a:spcBef>
                <a:spcPts val="600"/>
              </a:spcBef>
              <a:defRPr sz="1800" b="0">
                <a:solidFill>
                  <a:srgbClr val="CCCCCC"/>
                </a:solidFill>
              </a:defRPr>
            </a:pPr>
            <a:r>
              <a:t>Without ever seeing the reference ontology during induction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