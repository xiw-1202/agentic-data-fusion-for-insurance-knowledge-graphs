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SEAF-KG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Structurally-Enhanced Agentic Fusion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Insurance Knowledge Graphs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2860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CS584 AI Capstone  |  Emory University  |  Spring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Xiaofei Wang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Prof. Eugene Agichtein  |  Industry Mentor: Dr. Yingying Kang (Assurant)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Motivation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73152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(policy docs), CSVs (claims, surveys, policies) — no unified format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188720"/>
            <a:ext cx="73152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Knowledge Representation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1737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data prevents cross-source queries and analytics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926080"/>
            <a:ext cx="73152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Ontology Is Expensive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experts spend months building ontologies that don't transfer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926080"/>
            <a:ext cx="73152" cy="1463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3474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induce a domain ontology from raw insurance data using LLMs + graph structure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Overview: 4-Zone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920240" cy="31089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3498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34440"/>
            <a:ext cx="1005840" cy="320040"/>
          </a:xfrm>
          <a:prstGeom prst="roundRect">
            <a:avLst>
              <a:gd name="adj" fmla="val 42857"/>
            </a:avLst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→ chunks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CSVs → records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detection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99AA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1920240" cy="31089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0" y="1234440"/>
            <a:ext cx="1005840" cy="320040"/>
          </a:xfrm>
          <a:prstGeom prst="roundRect">
            <a:avLst>
              <a:gd name="adj" fmla="val 42857"/>
            </a:avLst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234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97480" y="219456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triples (PDFs)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mapper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99AA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1920240" cy="31089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234440"/>
            <a:ext cx="1005840" cy="320040"/>
          </a:xfrm>
          <a:prstGeom prst="roundRect">
            <a:avLst>
              <a:gd name="adj" fmla="val 42857"/>
            </a:avLst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234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SV-LOI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92040" y="219456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7-stage induction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structural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method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99AA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949440" y="1097280"/>
            <a:ext cx="1920240" cy="31089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32320" y="1234440"/>
            <a:ext cx="1005840" cy="320040"/>
          </a:xfrm>
          <a:prstGeom prst="roundRect">
            <a:avLst>
              <a:gd name="adj" fmla="val 42857"/>
            </a:avLst>
          </a:prstGeom>
          <a:solidFill>
            <a:srgbClr val="9B59B6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1234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8660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86600" y="219456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queries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layer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43484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271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94560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22,126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9456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31920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5,255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93192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66928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06640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27,380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40664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Zone 2: Knowledge Extraction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Dual-Path Extraction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Path (PDFs)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72B extracts (subject, relation, object) triples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policy documents, coverage terms, exclusions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32588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Mapper (CSVs)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record-to-triple conversion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Claims, policies, surveys → typed records + identity linking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Property Collapse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971800"/>
            <a:ext cx="54864" cy="548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71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2971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 numeric, 50–95% cardinality, ≤8 digits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2971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TOTAL_CLAIM_TIME, NPS_SCORE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611880"/>
            <a:ext cx="54864" cy="5486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611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3611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≥2x value reuse across subjects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3611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CLAIM_CHANNEL, DCC_LOCATION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251960"/>
            <a:ext cx="54864" cy="548640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251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20240" y="4251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(IDs, single-use literals)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4251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CLAIM_NUMBER, RESPONSE_ID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SV-LOI: Structurally-Verified LLM Ontology Induction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1A2555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8686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LLM typing is accurate but inconsistent across batches. Structural clustering is consistent but over-fragments. Fusing both with disagreement arbitration eliminates each signal’s failure mode.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cache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25880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28800" y="169164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vocab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0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063240" y="169164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3063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8892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8892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batch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94760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97680" y="169164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02336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2336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32120" y="169164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7" name="Text 25"/>
          <p:cNvSpPr/>
          <p:nvPr/>
        </p:nvSpPr>
        <p:spPr>
          <a:xfrm>
            <a:off x="55321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5-way merge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66560" y="169164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9224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98080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001000" y="169164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7" name="Text 35"/>
          <p:cNvSpPr/>
          <p:nvPr/>
        </p:nvSpPr>
        <p:spPr>
          <a:xfrm>
            <a:off x="80010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72668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2668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283464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1A2555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LLM Batch Typing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5800" y="33375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entities/prompt with name + relations context. LLM assigns class from discovered vocabulary. ~70 LLM calls for 1,500+ entities.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383280" y="283464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1A2555"/>
          </a:solidFill>
          <a:ln/>
        </p:spPr>
      </p:sp>
      <p:sp>
        <p:nvSpPr>
          <p:cNvPr id="44" name="Text 42"/>
          <p:cNvSpPr/>
          <p:nvPr/>
        </p:nvSpPr>
        <p:spPr>
          <a:xfrm>
            <a:off x="352044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Structural Verification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520440" y="33375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signature vectors per entity. Flag outliers &gt;2σ from class centroid. Re-query LLM with enriched structural context.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17920" y="283464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1A2555"/>
          </a:solidFill>
          <a:ln/>
        </p:spPr>
      </p:sp>
      <p:sp>
        <p:nvSpPr>
          <p:cNvPr id="47" name="Text 45"/>
          <p:cNvSpPr/>
          <p:nvPr/>
        </p:nvSpPr>
        <p:spPr>
          <a:xfrm>
            <a:off x="635508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5: 5-Way Class Relations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355080" y="33375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Pairwise: equivalent (merge), parent/child (SUBCLASS_OF), overlap, distinct. Protected class names never renamed.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Zone 2 Evaluation: Extraction Quality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058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91.1%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10789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Precision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1325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 evaluates each extracted triple as Correct / Incorrect / Uncertain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5361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correct, 8 incorrect, 10 uncertain (out of 100 sampled)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7556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SERVICE CONTRACT —COVERS→ Heated Back Glass → CORRECT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1938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Claim Management —CAN_BE_CANCELED_AT→ mytmoclaim.com → INCORRECT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8046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3317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73.2%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286000" y="24048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Recall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26517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30 source chunks, extract key facts, check if KG contains matching triples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28620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 of 239 facts found (BERTScore cosine &gt; 0.65)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3081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Coverage terms, exclusions, policy conditions captured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0" y="326440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Complex multi-clause legal language sometimes missed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8046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6576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80.0%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286000" y="37307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Grounding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86000" y="39776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50 sampled triples, verify the source document supports the claim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4187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supported, 2 partially, 9 no source found (of 50 checked)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0" y="440740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Vehicle Service Contract —IS_ADMINISTERED_BY→ AWF Inc. → SUPPORTED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459028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Device Protection Enrollment —REQUIRES→ VMI → NO SOURCE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Zone 3 Evaluation: Ontology Quality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BERTScore F1 = 0.617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0.758  |  R = 0.520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between our induced class names and Riskine reference classes using BERT embeddings. Measures whether we discovered the right concepts, even with different names.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Riskine Ref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0624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2064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1945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21945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06240" y="21945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2194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395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2395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06240" y="2395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2395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25968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25968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0" y="2596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2596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27980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60320" y="27980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06240" y="27980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2798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29992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60320" y="29992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06240" y="2999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29992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108960"/>
            <a:ext cx="8046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152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F1 = 0.433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65760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0.842  |  R = 0.291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comparison using Soft Graph Correspondence (2-hop neighborhood). Compares topology of induced vs reference ontology graphs.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 (84.2%)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Our edges are correct — induced relationships match reference patterns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Recall (29.1%)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Missing many Riskine edges — reference has 46 edges vs our 26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Zone 3 Evaluation: Ontology Quality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Wu-Palmer = 0.621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 matched pairs)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distance in a shared hierarchy.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= same node, 0.0 = completely unrelated.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close our class placement is to Riskine’s hierarchy structure. Higher = better structural alignment.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 Assignment F1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26-class: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0.206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7-class: </a:t>
            </a:r>
            <a:pPr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class members, find nearest Riskine class by centroid distance. Full = all 26 Riskine classes (many absent from data). Present = only classes with evidence.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80467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Assignment Examples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429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Riskine Match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3429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52160" y="3429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703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931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3931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52160" y="3931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Identification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4160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52160" y="4160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4400" y="4389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0" y="4389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4389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52160" y="4389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" y="4617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0" y="4617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4617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52160" y="4617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Showcase: KG vs Ground Truth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Knowledge Graph answer real business questions?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143000"/>
          </a:xfrm>
          <a:prstGeom prst="roundRect">
            <a:avLst>
              <a:gd name="adj" fmla="val 64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0" y="1078992"/>
            <a:ext cx="822960" cy="274320"/>
          </a:xfrm>
          <a:prstGeom prst="roundRect">
            <a:avLst>
              <a:gd name="adj" fmla="val 40000"/>
            </a:avLst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10789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Which claims had the longest resolution time?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3716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KG Result:  61,606 hours (Physical Damage, Cellular Phone)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 Truth:  61,606 hours (tmobilechatsurveysample.csv)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8046720" cy="1143000"/>
          </a:xfrm>
          <a:prstGeom prst="roundRect">
            <a:avLst>
              <a:gd name="adj" fmla="val 64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589520" y="2359152"/>
            <a:ext cx="822960" cy="274320"/>
          </a:xfrm>
          <a:prstGeom prst="roundRect">
            <a:avLst>
              <a:gd name="adj" fmla="val 40000"/>
            </a:avLst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23591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3317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What device types have the most claims?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6517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KG Result:  Cellular Phone: 274 | (Unknown): 3 | Smart Watch: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9260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 Truth:  Cellular Phone: 287 | (Unknown): 3 | Smart Watch: 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8046720" cy="1143000"/>
          </a:xfrm>
          <a:prstGeom prst="roundRect">
            <a:avLst>
              <a:gd name="adj" fmla="val 64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89520" y="3639312"/>
            <a:ext cx="822960" cy="274320"/>
          </a:xfrm>
          <a:prstGeom prst="roundRect">
            <a:avLst>
              <a:gd name="adj" fmla="val 40000"/>
            </a:avLst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36393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What loss types are most common?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931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KG Result:  Physical Damage: 144 | Missing/Lost: 22 | Theft: 7 | Mech. Breakdown: 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206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 Truth:  Physical Damage: 151 | Missing/Lost: 22 | Theft: 7 | Mech. Breakdown: 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executed via Cypher against Neo4j. Ground truth from raw CSV files (pandas verification).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Summary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4114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5,255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27,380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Ontology Classes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 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91.1%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 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73.2%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Grounding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80.0%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BERTScore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0.617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0.433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Riskine Class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0.485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Assign. F1 (present)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0.404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Duplication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Induced Ontology Classes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675120" y="1325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06640" y="1325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Coverage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0" y="1673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75120" y="16733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06640" y="1673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BusinessProcess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2020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675120" y="20208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238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06640" y="2020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Person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0" y="23682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75120" y="23682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06640" y="2368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—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29200" y="2715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675120" y="27157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406640" y="2715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2920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67512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40664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Property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29200" y="3410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675120" y="34107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406640" y="3410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Organization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029200" y="37581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675120" y="37581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406640" y="37581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Coverage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029200" y="41056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675120" y="4105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406640" y="4105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Address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Innovations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18872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078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Property Collapse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Measure/dimension/ID classification with zero hardcoded names. Scales to any domain.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214884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039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Dual-Path Extraction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331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for unstructured PDFs + deterministic mapper for structured CSVs. Best of both worlds.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310896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2999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SV-LOI Fusion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semantic typing + graph-structural verification with disagreement arbitration.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" y="406908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959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Pairwise Taxonomy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251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N×(N-1) ordered pair evaluation with DAG enforcement and max depth 3.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00584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73168" y="118872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49240" y="1078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Decomposition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1371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entities → domain-specific sub-nodes via relation-range mapping.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96596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73168" y="214884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49240" y="2039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Graph Cache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2331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detection by mtime + normalization version. Auto-rebuilds on code changes.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92608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73168" y="310896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5" name="Text 33"/>
          <p:cNvSpPr/>
          <p:nvPr/>
        </p:nvSpPr>
        <p:spPr>
          <a:xfrm>
            <a:off x="477316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49240" y="2999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Scale-Adaptive Thresholds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4924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floors for intrinsic properties, fraction-of-class for relative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 &amp; 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transfer: auto insurance → flood insurance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comparison: SV-LOI vs AutoSchemaKG vs OLLM baselines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"Other" fraction (56.5%) via improved value typing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target: peer-reviewed venue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8046720" cy="1645920"/>
          </a:xfrm>
          <a:prstGeom prst="roundRect">
            <a:avLst>
              <a:gd name="adj" fmla="val 5556"/>
            </a:avLst>
          </a:prstGeom>
          <a:solidFill>
            <a:srgbClr val="1A2555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SV-LOI demonstrates that fusing LLM semantic typing with graph-structural verification produces higher-quality ontologies than either signal alone. The pipeline processes heterogeneous insurance data (PDFs + CSVs) into a queryable knowledge graph with 91% extraction precision and domain-aligned ontology classes — all without manual ontology engineering.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SEAF-KG: Insurance Knowledge Graphs</dc:title>
  <dc:subject>PptxGenJS Presentation</dc:subject>
  <dc:creator>Xiaofei Wang</dc:creator>
  <cp:lastModifiedBy>Xiaofei Wang</cp:lastModifiedBy>
  <cp:revision>1</cp:revision>
  <dcterms:created xsi:type="dcterms:W3CDTF">2026-04-13T23:38:10Z</dcterms:created>
  <dcterms:modified xsi:type="dcterms:W3CDTF">2026-04-13T23:38:10Z</dcterms:modified>
</cp:coreProperties>
</file>